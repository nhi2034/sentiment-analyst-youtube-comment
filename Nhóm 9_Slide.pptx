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Roboto"/>
      <p:regular r:id="rId23"/>
      <p:bold r:id="rId24"/>
      <p:italic r:id="rId25"/>
      <p:boldItalic r:id="rId26"/>
    </p:embeddedFont>
    <p:embeddedFont>
      <p:font typeface="Playfair Display"/>
      <p:regular r:id="rId27"/>
      <p:bold r:id="rId28"/>
      <p:italic r:id="rId29"/>
      <p:boldItalic r:id="rId30"/>
    </p:embeddedFont>
    <p:embeddedFont>
      <p:font typeface="Montserrat"/>
      <p:regular r:id="rId31"/>
      <p:bold r:id="rId32"/>
      <p:italic r:id="rId33"/>
      <p:boldItalic r:id="rId34"/>
    </p:embeddedFont>
    <p:embeddedFont>
      <p:font typeface="Oswald"/>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560D84-9D89-48F9-98BF-D3AC6DA59D85}">
  <a:tblStyle styleId="{27560D84-9D89-48F9-98BF-D3AC6DA59D8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PlayfairDisplay-bold.fntdata"/><Relationship Id="rId27" Type="http://schemas.openxmlformats.org/officeDocument/2006/relationships/font" Target="fonts/PlayfairDisplay-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layfairDisplay-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regular.fntdata"/><Relationship Id="rId30" Type="http://schemas.openxmlformats.org/officeDocument/2006/relationships/font" Target="fonts/PlayfairDisplay-boldItalic.fntdata"/><Relationship Id="rId11" Type="http://schemas.openxmlformats.org/officeDocument/2006/relationships/slide" Target="slides/slide5.xml"/><Relationship Id="rId33" Type="http://schemas.openxmlformats.org/officeDocument/2006/relationships/font" Target="fonts/Montserrat-italic.fntdata"/><Relationship Id="rId10" Type="http://schemas.openxmlformats.org/officeDocument/2006/relationships/slide" Target="slides/slide4.xml"/><Relationship Id="rId32" Type="http://schemas.openxmlformats.org/officeDocument/2006/relationships/font" Target="fonts/Montserrat-bold.fntdata"/><Relationship Id="rId13" Type="http://schemas.openxmlformats.org/officeDocument/2006/relationships/slide" Target="slides/slide7.xml"/><Relationship Id="rId35" Type="http://schemas.openxmlformats.org/officeDocument/2006/relationships/font" Target="fonts/Oswald-regular.fntdata"/><Relationship Id="rId12" Type="http://schemas.openxmlformats.org/officeDocument/2006/relationships/slide" Target="slides/slide6.xml"/><Relationship Id="rId34" Type="http://schemas.openxmlformats.org/officeDocument/2006/relationships/font" Target="fonts/Montserrat-boldItalic.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Oswald-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t>
            </a:r>
            <a:r>
              <a:rPr lang="en"/>
              <a:t>hân loại cảm xúc từ bình luận youtube bằng kafka và pyspark theo thời gian thực</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66aa8a4492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66aa8a4492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66aa8a4492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66aa8a4492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66aa8a4492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66aa8a4492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 sz="1300">
                <a:solidFill>
                  <a:schemeClr val="dk1"/>
                </a:solidFill>
                <a:latin typeface="Playfair Display"/>
                <a:ea typeface="Playfair Display"/>
                <a:cs typeface="Playfair Display"/>
                <a:sym typeface="Playfair Display"/>
              </a:rPr>
              <a:t>Hiện tại thì </a:t>
            </a:r>
            <a:r>
              <a:rPr lang="en" sz="1300">
                <a:solidFill>
                  <a:schemeClr val="dk1"/>
                </a:solidFill>
                <a:latin typeface="Playfair Display"/>
                <a:ea typeface="Playfair Display"/>
                <a:cs typeface="Playfair Display"/>
                <a:sym typeface="Playfair Display"/>
              </a:rPr>
              <a:t>YouTube đã trở thành một nền tảng quan trọng để chia sẻ nội dung và tương tác xã hội. Để hiểu rõ ý kiến của mọi người đối với các video, việc phân tích cảm xúc bình luận trở thành một nhiệm vụ khá quan trọng. Nghiên cứu này sử dụng Kafka và PySpark để đảm bảo xử lý dữ liệu một cách hiệu quả</a:t>
            </a:r>
            <a:endParaRPr sz="1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66aa8a4492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66aa8a4492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66aa8a4492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66aa8a4492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66aa8a4492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66aa8a4492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66a7ee130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66a7ee130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66a7ee130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66a7ee130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Có một container Docker chứa kafka, có một producer cung cấp cmt thời gian thực của livestream thông qua youtube api, sau đó, một cónumer load model từ spark ML và phân tích cảm xúc của cmt trên kafka do producer gởi, Sau đó, dữ liệu sẽ lưu trên môngdb và được trực quan hóa qua dashboard bằng react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66aa8a4492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66aa8a4492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highlight>
                  <a:schemeClr val="lt1"/>
                </a:highlight>
                <a:latin typeface="Roboto"/>
                <a:ea typeface="Roboto"/>
                <a:cs typeface="Roboto"/>
                <a:sym typeface="Roboto"/>
              </a:rPr>
              <a:t>Mô hình đề tài này sử dụng  được train bởi tập tậpdataset có sẵn và sau đó  được đưa vào phân loại cảm xúc của những bình luận trên utube theo thời gian thực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66a7ee130b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66a7ee130b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28600" lvl="0" marL="457200" rtl="0" algn="l">
              <a:lnSpc>
                <a:spcPct val="115000"/>
              </a:lnSpc>
              <a:spcBef>
                <a:spcPts val="1500"/>
              </a:spcBef>
              <a:spcAft>
                <a:spcPts val="0"/>
              </a:spcAft>
              <a:buClr>
                <a:srgbClr val="D1D5DB"/>
              </a:buClr>
              <a:buSzPts val="1200"/>
              <a:buFont typeface="Roboto"/>
              <a:buNone/>
            </a:pPr>
            <a:r>
              <a:rPr lang="en" sz="1200">
                <a:solidFill>
                  <a:srgbClr val="0F2149"/>
                </a:solidFill>
                <a:highlight>
                  <a:srgbClr val="FFFFFF"/>
                </a:highlight>
              </a:rPr>
              <a:t>Dữ liệu kéo dài hơn 10 năm, bao gồm tất cả ~500.000 bài đánh giá tính đến tháng 10 năm 2012. </a:t>
            </a:r>
            <a:endParaRPr sz="1200">
              <a:solidFill>
                <a:srgbClr val="D1D5DB"/>
              </a:solidFill>
              <a:highlight>
                <a:srgbClr val="343541"/>
              </a:highlight>
              <a:latin typeface="Roboto"/>
              <a:ea typeface="Roboto"/>
              <a:cs typeface="Roboto"/>
              <a:sym typeface="Roboto"/>
            </a:endParaRPr>
          </a:p>
          <a:p>
            <a:pPr indent="-228600" lvl="0" marL="457200" rtl="0" algn="l">
              <a:lnSpc>
                <a:spcPct val="115000"/>
              </a:lnSpc>
              <a:spcBef>
                <a:spcPts val="0"/>
              </a:spcBef>
              <a:spcAft>
                <a:spcPts val="0"/>
              </a:spcAft>
              <a:buClr>
                <a:srgbClr val="D1D5DB"/>
              </a:buClr>
              <a:buSzPts val="1200"/>
              <a:buFont typeface="Roboto"/>
              <a:buNone/>
            </a:pPr>
            <a:r>
              <a:rPr lang="en" sz="1200">
                <a:solidFill>
                  <a:srgbClr val="D1D5DB"/>
                </a:solidFill>
                <a:highlight>
                  <a:srgbClr val="343541"/>
                </a:highlight>
                <a:latin typeface="Roboto"/>
                <a:ea typeface="Roboto"/>
                <a:cs typeface="Roboto"/>
                <a:sym typeface="Roboto"/>
              </a:rPr>
              <a:t>Id: Mã số định danh cho mỗi đánh giá.</a:t>
            </a:r>
            <a:endParaRPr sz="1200">
              <a:solidFill>
                <a:srgbClr val="D1D5DB"/>
              </a:solidFill>
              <a:highlight>
                <a:srgbClr val="343541"/>
              </a:highlight>
              <a:latin typeface="Roboto"/>
              <a:ea typeface="Roboto"/>
              <a:cs typeface="Roboto"/>
              <a:sym typeface="Roboto"/>
            </a:endParaRPr>
          </a:p>
          <a:p>
            <a:pPr indent="-228600" lvl="0" marL="457200" rtl="0" algn="l">
              <a:lnSpc>
                <a:spcPct val="115000"/>
              </a:lnSpc>
              <a:spcBef>
                <a:spcPts val="0"/>
              </a:spcBef>
              <a:spcAft>
                <a:spcPts val="0"/>
              </a:spcAft>
              <a:buClr>
                <a:srgbClr val="D1D5DB"/>
              </a:buClr>
              <a:buSzPts val="1200"/>
              <a:buFont typeface="Roboto"/>
              <a:buNone/>
            </a:pPr>
            <a:r>
              <a:rPr lang="en" sz="1200">
                <a:solidFill>
                  <a:srgbClr val="D1D5DB"/>
                </a:solidFill>
                <a:highlight>
                  <a:srgbClr val="343541"/>
                </a:highlight>
                <a:latin typeface="Roboto"/>
                <a:ea typeface="Roboto"/>
                <a:cs typeface="Roboto"/>
                <a:sym typeface="Roboto"/>
              </a:rPr>
              <a:t>ProductId: Mã số định danh cho sản phẩm được đánh giá.</a:t>
            </a:r>
            <a:endParaRPr sz="1200">
              <a:solidFill>
                <a:srgbClr val="D1D5DB"/>
              </a:solidFill>
              <a:highlight>
                <a:srgbClr val="343541"/>
              </a:highlight>
              <a:latin typeface="Roboto"/>
              <a:ea typeface="Roboto"/>
              <a:cs typeface="Roboto"/>
              <a:sym typeface="Roboto"/>
            </a:endParaRPr>
          </a:p>
          <a:p>
            <a:pPr indent="-228600" lvl="0" marL="457200" rtl="0" algn="l">
              <a:lnSpc>
                <a:spcPct val="115000"/>
              </a:lnSpc>
              <a:spcBef>
                <a:spcPts val="0"/>
              </a:spcBef>
              <a:spcAft>
                <a:spcPts val="0"/>
              </a:spcAft>
              <a:buClr>
                <a:srgbClr val="D1D5DB"/>
              </a:buClr>
              <a:buSzPts val="1200"/>
              <a:buFont typeface="Roboto"/>
              <a:buNone/>
            </a:pPr>
            <a:r>
              <a:rPr lang="en" sz="1200">
                <a:solidFill>
                  <a:srgbClr val="D1D5DB"/>
                </a:solidFill>
                <a:highlight>
                  <a:srgbClr val="343541"/>
                </a:highlight>
                <a:latin typeface="Roboto"/>
                <a:ea typeface="Roboto"/>
                <a:cs typeface="Roboto"/>
                <a:sym typeface="Roboto"/>
              </a:rPr>
              <a:t>UserId: Mã số định danh cho người dùng đăng đánh giá.</a:t>
            </a:r>
            <a:endParaRPr sz="1200">
              <a:solidFill>
                <a:srgbClr val="D1D5DB"/>
              </a:solidFill>
              <a:highlight>
                <a:srgbClr val="343541"/>
              </a:highlight>
              <a:latin typeface="Roboto"/>
              <a:ea typeface="Roboto"/>
              <a:cs typeface="Roboto"/>
              <a:sym typeface="Roboto"/>
            </a:endParaRPr>
          </a:p>
          <a:p>
            <a:pPr indent="-228600" lvl="0" marL="457200" rtl="0" algn="l">
              <a:lnSpc>
                <a:spcPct val="115000"/>
              </a:lnSpc>
              <a:spcBef>
                <a:spcPts val="0"/>
              </a:spcBef>
              <a:spcAft>
                <a:spcPts val="0"/>
              </a:spcAft>
              <a:buClr>
                <a:srgbClr val="D1D5DB"/>
              </a:buClr>
              <a:buSzPts val="1200"/>
              <a:buFont typeface="Roboto"/>
              <a:buNone/>
            </a:pPr>
            <a:r>
              <a:rPr lang="en" sz="1200">
                <a:solidFill>
                  <a:srgbClr val="D1D5DB"/>
                </a:solidFill>
                <a:highlight>
                  <a:srgbClr val="343541"/>
                </a:highlight>
                <a:latin typeface="Roboto"/>
                <a:ea typeface="Roboto"/>
                <a:cs typeface="Roboto"/>
                <a:sym typeface="Roboto"/>
              </a:rPr>
              <a:t>ProfileName: Tên người dùng đăng đánh giá.</a:t>
            </a:r>
            <a:endParaRPr sz="1200">
              <a:solidFill>
                <a:srgbClr val="D1D5DB"/>
              </a:solidFill>
              <a:highlight>
                <a:srgbClr val="343541"/>
              </a:highlight>
              <a:latin typeface="Roboto"/>
              <a:ea typeface="Roboto"/>
              <a:cs typeface="Roboto"/>
              <a:sym typeface="Roboto"/>
            </a:endParaRPr>
          </a:p>
          <a:p>
            <a:pPr indent="-228600" lvl="0" marL="457200" rtl="0" algn="l">
              <a:lnSpc>
                <a:spcPct val="115000"/>
              </a:lnSpc>
              <a:spcBef>
                <a:spcPts val="0"/>
              </a:spcBef>
              <a:spcAft>
                <a:spcPts val="0"/>
              </a:spcAft>
              <a:buClr>
                <a:srgbClr val="D1D5DB"/>
              </a:buClr>
              <a:buSzPts val="1200"/>
              <a:buFont typeface="Roboto"/>
              <a:buNone/>
            </a:pPr>
            <a:r>
              <a:rPr lang="en" sz="1200">
                <a:solidFill>
                  <a:srgbClr val="D1D5DB"/>
                </a:solidFill>
                <a:highlight>
                  <a:srgbClr val="343541"/>
                </a:highlight>
                <a:latin typeface="Roboto"/>
                <a:ea typeface="Roboto"/>
                <a:cs typeface="Roboto"/>
                <a:sym typeface="Roboto"/>
              </a:rPr>
              <a:t>HelpfulnessNumerator: Số lượng người dùng thấy đánh giá hữu ích.</a:t>
            </a:r>
            <a:endParaRPr sz="1200">
              <a:solidFill>
                <a:srgbClr val="D1D5DB"/>
              </a:solidFill>
              <a:highlight>
                <a:srgbClr val="343541"/>
              </a:highlight>
              <a:latin typeface="Roboto"/>
              <a:ea typeface="Roboto"/>
              <a:cs typeface="Roboto"/>
              <a:sym typeface="Roboto"/>
            </a:endParaRPr>
          </a:p>
          <a:p>
            <a:pPr indent="-228600" lvl="0" marL="457200" rtl="0" algn="l">
              <a:lnSpc>
                <a:spcPct val="115000"/>
              </a:lnSpc>
              <a:spcBef>
                <a:spcPts val="0"/>
              </a:spcBef>
              <a:spcAft>
                <a:spcPts val="0"/>
              </a:spcAft>
              <a:buClr>
                <a:srgbClr val="D1D5DB"/>
              </a:buClr>
              <a:buSzPts val="1200"/>
              <a:buFont typeface="Roboto"/>
              <a:buNone/>
            </a:pPr>
            <a:r>
              <a:rPr lang="en" sz="1200">
                <a:solidFill>
                  <a:srgbClr val="D1D5DB"/>
                </a:solidFill>
                <a:highlight>
                  <a:srgbClr val="343541"/>
                </a:highlight>
                <a:latin typeface="Roboto"/>
                <a:ea typeface="Roboto"/>
                <a:cs typeface="Roboto"/>
                <a:sym typeface="Roboto"/>
              </a:rPr>
              <a:t>HelpfulnessDenominator: Tổng số lượng người dùng đã xem xét tính hữu ích.</a:t>
            </a:r>
            <a:endParaRPr sz="1200">
              <a:solidFill>
                <a:srgbClr val="D1D5DB"/>
              </a:solidFill>
              <a:highlight>
                <a:srgbClr val="343541"/>
              </a:highlight>
              <a:latin typeface="Roboto"/>
              <a:ea typeface="Roboto"/>
              <a:cs typeface="Roboto"/>
              <a:sym typeface="Roboto"/>
            </a:endParaRPr>
          </a:p>
          <a:p>
            <a:pPr indent="-228600" lvl="0" marL="457200" rtl="0" algn="l">
              <a:lnSpc>
                <a:spcPct val="115000"/>
              </a:lnSpc>
              <a:spcBef>
                <a:spcPts val="0"/>
              </a:spcBef>
              <a:spcAft>
                <a:spcPts val="0"/>
              </a:spcAft>
              <a:buClr>
                <a:srgbClr val="D1D5DB"/>
              </a:buClr>
              <a:buSzPts val="1200"/>
              <a:buFont typeface="Roboto"/>
              <a:buNone/>
            </a:pPr>
            <a:r>
              <a:rPr lang="en" sz="1200">
                <a:solidFill>
                  <a:srgbClr val="D1D5DB"/>
                </a:solidFill>
                <a:highlight>
                  <a:srgbClr val="343541"/>
                </a:highlight>
                <a:latin typeface="Roboto"/>
                <a:ea typeface="Roboto"/>
                <a:cs typeface="Roboto"/>
                <a:sym typeface="Roboto"/>
              </a:rPr>
              <a:t>Score: Điểm đánh giá, thường từ 1 đến 5.</a:t>
            </a:r>
            <a:endParaRPr sz="1200">
              <a:solidFill>
                <a:srgbClr val="D1D5DB"/>
              </a:solidFill>
              <a:highlight>
                <a:srgbClr val="343541"/>
              </a:highlight>
              <a:latin typeface="Roboto"/>
              <a:ea typeface="Roboto"/>
              <a:cs typeface="Roboto"/>
              <a:sym typeface="Roboto"/>
            </a:endParaRPr>
          </a:p>
          <a:p>
            <a:pPr indent="-228600" lvl="0" marL="457200" rtl="0" algn="l">
              <a:lnSpc>
                <a:spcPct val="115000"/>
              </a:lnSpc>
              <a:spcBef>
                <a:spcPts val="0"/>
              </a:spcBef>
              <a:spcAft>
                <a:spcPts val="0"/>
              </a:spcAft>
              <a:buClr>
                <a:srgbClr val="D1D5DB"/>
              </a:buClr>
              <a:buSzPts val="1200"/>
              <a:buFont typeface="Roboto"/>
              <a:buNone/>
            </a:pPr>
            <a:r>
              <a:rPr lang="en" sz="1200">
                <a:solidFill>
                  <a:srgbClr val="D1D5DB"/>
                </a:solidFill>
                <a:highlight>
                  <a:srgbClr val="343541"/>
                </a:highlight>
                <a:latin typeface="Roboto"/>
                <a:ea typeface="Roboto"/>
                <a:cs typeface="Roboto"/>
                <a:sym typeface="Roboto"/>
              </a:rPr>
              <a:t>Time: Thời gian đăng đánh giá (timestamp).</a:t>
            </a:r>
            <a:endParaRPr sz="1200">
              <a:solidFill>
                <a:srgbClr val="D1D5DB"/>
              </a:solidFill>
              <a:highlight>
                <a:srgbClr val="343541"/>
              </a:highlight>
              <a:latin typeface="Roboto"/>
              <a:ea typeface="Roboto"/>
              <a:cs typeface="Roboto"/>
              <a:sym typeface="Roboto"/>
            </a:endParaRPr>
          </a:p>
          <a:p>
            <a:pPr indent="-228600" lvl="0" marL="457200" rtl="0" algn="l">
              <a:lnSpc>
                <a:spcPct val="115000"/>
              </a:lnSpc>
              <a:spcBef>
                <a:spcPts val="0"/>
              </a:spcBef>
              <a:spcAft>
                <a:spcPts val="0"/>
              </a:spcAft>
              <a:buClr>
                <a:srgbClr val="D1D5DB"/>
              </a:buClr>
              <a:buSzPts val="1200"/>
              <a:buFont typeface="Roboto"/>
              <a:buNone/>
            </a:pPr>
            <a:r>
              <a:rPr lang="en" sz="1200">
                <a:solidFill>
                  <a:srgbClr val="D1D5DB"/>
                </a:solidFill>
                <a:highlight>
                  <a:srgbClr val="343541"/>
                </a:highlight>
                <a:latin typeface="Roboto"/>
                <a:ea typeface="Roboto"/>
                <a:cs typeface="Roboto"/>
                <a:sym typeface="Roboto"/>
              </a:rPr>
              <a:t>Summary: Tóm tắt nội dung đánh giá.</a:t>
            </a:r>
            <a:endParaRPr sz="1200">
              <a:solidFill>
                <a:srgbClr val="D1D5DB"/>
              </a:solidFill>
              <a:highlight>
                <a:srgbClr val="343541"/>
              </a:highlight>
              <a:latin typeface="Roboto"/>
              <a:ea typeface="Roboto"/>
              <a:cs typeface="Roboto"/>
              <a:sym typeface="Roboto"/>
            </a:endParaRPr>
          </a:p>
          <a:p>
            <a:pPr indent="-228600" lvl="0" marL="457200" rtl="0" algn="l">
              <a:lnSpc>
                <a:spcPct val="115000"/>
              </a:lnSpc>
              <a:spcBef>
                <a:spcPts val="0"/>
              </a:spcBef>
              <a:spcAft>
                <a:spcPts val="0"/>
              </a:spcAft>
              <a:buClr>
                <a:srgbClr val="D1D5DB"/>
              </a:buClr>
              <a:buSzPts val="1200"/>
              <a:buFont typeface="Roboto"/>
              <a:buNone/>
            </a:pPr>
            <a:r>
              <a:rPr lang="en" sz="1200">
                <a:solidFill>
                  <a:srgbClr val="D1D5DB"/>
                </a:solidFill>
                <a:highlight>
                  <a:srgbClr val="343541"/>
                </a:highlight>
                <a:latin typeface="Roboto"/>
                <a:ea typeface="Roboto"/>
                <a:cs typeface="Roboto"/>
                <a:sym typeface="Roboto"/>
              </a:rPr>
              <a:t>Text: Nội dung đầy đủ của đánh giá.</a:t>
            </a:r>
            <a:endParaRPr sz="1200">
              <a:solidFill>
                <a:srgbClr val="D1D5DB"/>
              </a:solidFill>
              <a:highlight>
                <a:srgbClr val="343541"/>
              </a:highlight>
              <a:latin typeface="Roboto"/>
              <a:ea typeface="Roboto"/>
              <a:cs typeface="Roboto"/>
              <a:sym typeface="Roboto"/>
            </a:endParaRPr>
          </a:p>
          <a:p>
            <a:pPr indent="0" lvl="0" marL="0" rtl="0" algn="l">
              <a:spcBef>
                <a:spcPts val="15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66a7ee107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66a7ee107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00"/>
          </a:p>
          <a:p>
            <a:pPr indent="0" lvl="0" marL="0" rtl="0" algn="l">
              <a:spcBef>
                <a:spcPts val="0"/>
              </a:spcBef>
              <a:spcAft>
                <a:spcPts val="0"/>
              </a:spcAft>
              <a:buClr>
                <a:schemeClr val="dk1"/>
              </a:buClr>
              <a:buSzPts val="1100"/>
              <a:buFont typeface="Arial"/>
              <a:buNone/>
            </a:pPr>
            <a:r>
              <a:rPr lang="en" sz="1300">
                <a:solidFill>
                  <a:schemeClr val="dk1"/>
                </a:solidFill>
              </a:rPr>
              <a:t>1. **Chuyển đổi thành chữ thường:**</a:t>
            </a:r>
            <a:endParaRPr sz="1300">
              <a:solidFill>
                <a:schemeClr val="dk1"/>
              </a:solidFill>
            </a:endParaRPr>
          </a:p>
          <a:p>
            <a:pPr indent="0" lvl="0" marL="0" rtl="0" algn="l">
              <a:spcBef>
                <a:spcPts val="0"/>
              </a:spcBef>
              <a:spcAft>
                <a:spcPts val="0"/>
              </a:spcAft>
              <a:buClr>
                <a:schemeClr val="dk1"/>
              </a:buClr>
              <a:buSzPts val="1100"/>
              <a:buFont typeface="Arial"/>
              <a:buNone/>
            </a:pPr>
            <a:r>
              <a:rPr lang="en" sz="1300">
                <a:solidFill>
                  <a:schemeClr val="dk1"/>
                </a:solidFill>
              </a:rPr>
              <a:t>   - Bạn đang sử dụng một hàm UDF của PySpark để chuyển đổi văn bản thành chữ thường.</a:t>
            </a:r>
            <a:endParaRPr sz="1300">
              <a:solidFill>
                <a:schemeClr val="dk1"/>
              </a:solidFill>
            </a:endParaRPr>
          </a:p>
          <a:p>
            <a:pPr indent="0" lvl="0" marL="0" rtl="0" algn="l">
              <a:spcBef>
                <a:spcPts val="0"/>
              </a:spcBef>
              <a:spcAft>
                <a:spcPts val="0"/>
              </a:spcAft>
              <a:buClr>
                <a:schemeClr val="dk1"/>
              </a:buClr>
              <a:buSzPts val="1100"/>
              <a:buFont typeface="Arial"/>
              <a:buNone/>
            </a:pPr>
            <a:r>
              <a:t/>
            </a:r>
            <a:endParaRPr sz="1300">
              <a:solidFill>
                <a:schemeClr val="dk1"/>
              </a:solidFill>
            </a:endParaRPr>
          </a:p>
          <a:p>
            <a:pPr indent="0" lvl="0" marL="0" rtl="0" algn="l">
              <a:spcBef>
                <a:spcPts val="0"/>
              </a:spcBef>
              <a:spcAft>
                <a:spcPts val="0"/>
              </a:spcAft>
              <a:buClr>
                <a:schemeClr val="dk1"/>
              </a:buClr>
              <a:buSzPts val="1100"/>
              <a:buFont typeface="Arial"/>
              <a:buNone/>
            </a:pPr>
            <a:r>
              <a:rPr lang="en" sz="1300">
                <a:solidFill>
                  <a:schemeClr val="dk1"/>
                </a:solidFill>
              </a:rPr>
              <a:t>2. **Loại bỏ ký tự không ASCII (át xơ ki):**</a:t>
            </a:r>
            <a:endParaRPr sz="1300">
              <a:solidFill>
                <a:schemeClr val="dk1"/>
              </a:solidFill>
            </a:endParaRPr>
          </a:p>
          <a:p>
            <a:pPr indent="0" lvl="0" marL="0" rtl="0" algn="l">
              <a:spcBef>
                <a:spcPts val="0"/>
              </a:spcBef>
              <a:spcAft>
                <a:spcPts val="0"/>
              </a:spcAft>
              <a:buClr>
                <a:schemeClr val="dk1"/>
              </a:buClr>
              <a:buSzPts val="1100"/>
              <a:buFont typeface="Arial"/>
              <a:buNone/>
            </a:pPr>
            <a:r>
              <a:rPr lang="en" sz="1300">
                <a:solidFill>
                  <a:schemeClr val="dk1"/>
                </a:solidFill>
              </a:rPr>
              <a:t>   - Một hàm UDF khác của PySpark được sử dụng để loại bỏ ký tự không ASCII khỏi văn bản.</a:t>
            </a:r>
            <a:endParaRPr sz="1300">
              <a:solidFill>
                <a:schemeClr val="dk1"/>
              </a:solidFill>
            </a:endParaRPr>
          </a:p>
          <a:p>
            <a:pPr indent="0" lvl="0" marL="0" rtl="0" algn="l">
              <a:spcBef>
                <a:spcPts val="0"/>
              </a:spcBef>
              <a:spcAft>
                <a:spcPts val="0"/>
              </a:spcAft>
              <a:buClr>
                <a:schemeClr val="dk1"/>
              </a:buClr>
              <a:buSzPts val="1100"/>
              <a:buFont typeface="Arial"/>
              <a:buNone/>
            </a:pPr>
            <a:r>
              <a:t/>
            </a:r>
            <a:endParaRPr sz="1300">
              <a:solidFill>
                <a:schemeClr val="dk1"/>
              </a:solidFill>
            </a:endParaRPr>
          </a:p>
          <a:p>
            <a:pPr indent="0" lvl="0" marL="0" rtl="0" algn="l">
              <a:spcBef>
                <a:spcPts val="0"/>
              </a:spcBef>
              <a:spcAft>
                <a:spcPts val="0"/>
              </a:spcAft>
              <a:buClr>
                <a:schemeClr val="dk1"/>
              </a:buClr>
              <a:buSzPts val="1100"/>
              <a:buFont typeface="Arial"/>
              <a:buNone/>
            </a:pPr>
            <a:r>
              <a:rPr lang="en" sz="1300">
                <a:solidFill>
                  <a:schemeClr val="dk1"/>
                </a:solidFill>
              </a:rPr>
              <a:t>3. **Sửa các từ viết tắt:**</a:t>
            </a:r>
            <a:endParaRPr sz="1300">
              <a:solidFill>
                <a:schemeClr val="dk1"/>
              </a:solidFill>
            </a:endParaRPr>
          </a:p>
          <a:p>
            <a:pPr indent="0" lvl="0" marL="0" rtl="0" algn="l">
              <a:spcBef>
                <a:spcPts val="0"/>
              </a:spcBef>
              <a:spcAft>
                <a:spcPts val="0"/>
              </a:spcAft>
              <a:buClr>
                <a:schemeClr val="dk1"/>
              </a:buClr>
              <a:buSzPts val="1100"/>
              <a:buFont typeface="Arial"/>
              <a:buNone/>
            </a:pPr>
            <a:r>
              <a:rPr lang="en" sz="1300">
                <a:solidFill>
                  <a:schemeClr val="dk1"/>
                </a:solidFill>
              </a:rPr>
              <a:t>   - Bạn đã định nghĩa một hàm để thay thế một số từ viết tắt bằng các dạng đầy đủ của chúng bằng cách sử dụng biểu thức chính quy.</a:t>
            </a:r>
            <a:endParaRPr sz="1300">
              <a:solidFill>
                <a:schemeClr val="dk1"/>
              </a:solidFill>
            </a:endParaRPr>
          </a:p>
          <a:p>
            <a:pPr indent="0" lvl="0" marL="0" rtl="0" algn="l">
              <a:spcBef>
                <a:spcPts val="0"/>
              </a:spcBef>
              <a:spcAft>
                <a:spcPts val="0"/>
              </a:spcAft>
              <a:buClr>
                <a:schemeClr val="dk1"/>
              </a:buClr>
              <a:buSzPts val="1100"/>
              <a:buFont typeface="Arial"/>
              <a:buNone/>
            </a:pPr>
            <a:r>
              <a:t/>
            </a:r>
            <a:endParaRPr sz="1300">
              <a:solidFill>
                <a:schemeClr val="dk1"/>
              </a:solidFill>
            </a:endParaRPr>
          </a:p>
          <a:p>
            <a:pPr indent="0" lvl="0" marL="0" rtl="0" algn="l">
              <a:spcBef>
                <a:spcPts val="0"/>
              </a:spcBef>
              <a:spcAft>
                <a:spcPts val="0"/>
              </a:spcAft>
              <a:buClr>
                <a:schemeClr val="dk1"/>
              </a:buClr>
              <a:buSzPts val="1100"/>
              <a:buFont typeface="Arial"/>
              <a:buNone/>
            </a:pPr>
            <a:r>
              <a:rPr lang="en" sz="1300">
                <a:solidFill>
                  <a:schemeClr val="dk1"/>
                </a:solidFill>
              </a:rPr>
              <a:t>4. **Loại bỏ dấu câu, ký hiệu đề cập và ký tự chữ số:**</a:t>
            </a:r>
            <a:endParaRPr sz="1300">
              <a:solidFill>
                <a:schemeClr val="dk1"/>
              </a:solidFill>
            </a:endParaRPr>
          </a:p>
          <a:p>
            <a:pPr indent="0" lvl="0" marL="0" rtl="0" algn="l">
              <a:spcBef>
                <a:spcPts val="0"/>
              </a:spcBef>
              <a:spcAft>
                <a:spcPts val="0"/>
              </a:spcAft>
              <a:buClr>
                <a:schemeClr val="dk1"/>
              </a:buClr>
              <a:buSzPts val="1100"/>
              <a:buFont typeface="Arial"/>
              <a:buNone/>
            </a:pPr>
            <a:r>
              <a:rPr lang="en" sz="1300">
                <a:solidFill>
                  <a:schemeClr val="dk1"/>
                </a:solidFill>
              </a:rPr>
              <a:t>   - Bạn đã định nghĩa một hàm để loại bỏ siêu liên kết, ký hiệu đề cập, dấu câu, từ số và ký tự không chữ số.</a:t>
            </a:r>
            <a:endParaRPr sz="1300">
              <a:solidFill>
                <a:schemeClr val="dk1"/>
              </a:solidFill>
            </a:endParaRPr>
          </a:p>
          <a:p>
            <a:pPr indent="0" lvl="0" marL="0" rtl="0" algn="l">
              <a:spcBef>
                <a:spcPts val="0"/>
              </a:spcBef>
              <a:spcAft>
                <a:spcPts val="0"/>
              </a:spcAft>
              <a:buClr>
                <a:schemeClr val="dk1"/>
              </a:buClr>
              <a:buSzPts val="1100"/>
              <a:buFont typeface="Arial"/>
              <a:buNone/>
            </a:pPr>
            <a:r>
              <a:t/>
            </a:r>
            <a:endParaRPr sz="1300">
              <a:solidFill>
                <a:schemeClr val="dk1"/>
              </a:solidFill>
            </a:endParaRPr>
          </a:p>
          <a:p>
            <a:pPr indent="0" lvl="0" marL="0" rtl="0" algn="l">
              <a:spcBef>
                <a:spcPts val="0"/>
              </a:spcBef>
              <a:spcAft>
                <a:spcPts val="0"/>
              </a:spcAft>
              <a:buClr>
                <a:schemeClr val="dk1"/>
              </a:buClr>
              <a:buSzPts val="1100"/>
              <a:buFont typeface="Arial"/>
              <a:buNone/>
            </a:pPr>
            <a:r>
              <a:rPr lang="en" sz="1300">
                <a:solidFill>
                  <a:schemeClr val="dk1"/>
                </a:solidFill>
              </a:rPr>
              <a:t>5. **Loại bỏ từ dừng:**</a:t>
            </a:r>
            <a:endParaRPr sz="1300">
              <a:solidFill>
                <a:schemeClr val="dk1"/>
              </a:solidFill>
            </a:endParaRPr>
          </a:p>
          <a:p>
            <a:pPr indent="0" lvl="0" marL="0" rtl="0" algn="l">
              <a:spcBef>
                <a:spcPts val="0"/>
              </a:spcBef>
              <a:spcAft>
                <a:spcPts val="0"/>
              </a:spcAft>
              <a:buClr>
                <a:schemeClr val="dk1"/>
              </a:buClr>
              <a:buSzPts val="1100"/>
              <a:buFont typeface="Arial"/>
              <a:buNone/>
            </a:pPr>
            <a:r>
              <a:rPr lang="en" sz="1300">
                <a:solidFill>
                  <a:schemeClr val="dk1"/>
                </a:solidFill>
              </a:rPr>
              <a:t>   - sử dụng stopwords của NLTK.</a:t>
            </a:r>
            <a:endParaRPr sz="1300">
              <a:solidFill>
                <a:schemeClr val="dk1"/>
              </a:solidFill>
            </a:endParaRPr>
          </a:p>
          <a:p>
            <a:pPr indent="0" lvl="0" marL="0" rtl="0" algn="l">
              <a:spcBef>
                <a:spcPts val="0"/>
              </a:spcBef>
              <a:spcAft>
                <a:spcPts val="0"/>
              </a:spcAft>
              <a:buClr>
                <a:schemeClr val="dk1"/>
              </a:buClr>
              <a:buSzPts val="1100"/>
              <a:buFont typeface="Arial"/>
              <a:buNone/>
            </a:pPr>
            <a:r>
              <a:rPr lang="en" sz="1350">
                <a:solidFill>
                  <a:srgbClr val="1B1B1B"/>
                </a:solidFill>
                <a:highlight>
                  <a:srgbClr val="FFFFFF"/>
                </a:highlight>
              </a:rPr>
              <a:t>Stop words thường là các từ xuất hiện nhiều lần và không đóng góp nhiều vào ý nghĩa của câu, chúng sẽ đóng vai trò như nhiễu, trong tiếng Anh các từ này có thể kể đến như </a:t>
            </a:r>
            <a:r>
              <a:rPr i="1" lang="en" sz="1350">
                <a:solidFill>
                  <a:srgbClr val="1B1B1B"/>
                </a:solidFill>
                <a:highlight>
                  <a:srgbClr val="FFFFFF"/>
                </a:highlight>
              </a:rPr>
              <a:t>the, is, at, on, which, in, some, many</a:t>
            </a:r>
            <a:endParaRPr sz="1300">
              <a:solidFill>
                <a:schemeClr val="dk1"/>
              </a:solidFill>
            </a:endParaRPr>
          </a:p>
          <a:p>
            <a:pPr indent="0" lvl="0" marL="0" rtl="0" algn="l">
              <a:spcBef>
                <a:spcPts val="0"/>
              </a:spcBef>
              <a:spcAft>
                <a:spcPts val="0"/>
              </a:spcAft>
              <a:buClr>
                <a:schemeClr val="dk1"/>
              </a:buClr>
              <a:buSzPts val="1100"/>
              <a:buFont typeface="Arial"/>
              <a:buNone/>
            </a:pPr>
            <a:r>
              <a:rPr lang="en" sz="1300">
                <a:solidFill>
                  <a:schemeClr val="dk1"/>
                </a:solidFill>
              </a:rPr>
              <a:t>6. **Gắn nhãn và giữ lại danh từ, tính từ và động từ:**</a:t>
            </a:r>
            <a:endParaRPr sz="1300">
              <a:solidFill>
                <a:schemeClr val="dk1"/>
              </a:solidFill>
            </a:endParaRPr>
          </a:p>
          <a:p>
            <a:pPr indent="0" lvl="0" marL="0" rtl="0" algn="l">
              <a:spcBef>
                <a:spcPts val="0"/>
              </a:spcBef>
              <a:spcAft>
                <a:spcPts val="0"/>
              </a:spcAft>
              <a:buClr>
                <a:schemeClr val="dk1"/>
              </a:buClr>
              <a:buSzPts val="1100"/>
              <a:buFont typeface="Arial"/>
              <a:buNone/>
            </a:pPr>
            <a:r>
              <a:rPr lang="en" sz="1300">
                <a:solidFill>
                  <a:schemeClr val="dk1"/>
                </a:solidFill>
              </a:rPr>
              <a:t>   - Bạn đã triển khai một hàm để thực hiện gắn nhãn phần từ và giữ lại chỉ danh từ, tính từ và động từ.</a:t>
            </a:r>
            <a:endParaRPr sz="1300">
              <a:solidFill>
                <a:schemeClr val="dk1"/>
              </a:solidFill>
            </a:endParaRPr>
          </a:p>
          <a:p>
            <a:pPr indent="0" lvl="0" marL="0" rtl="0" algn="l">
              <a:spcBef>
                <a:spcPts val="0"/>
              </a:spcBef>
              <a:spcAft>
                <a:spcPts val="0"/>
              </a:spcAft>
              <a:buClr>
                <a:schemeClr val="dk1"/>
              </a:buClr>
              <a:buSzPts val="1100"/>
              <a:buFont typeface="Arial"/>
              <a:buNone/>
            </a:pPr>
            <a:r>
              <a:t/>
            </a:r>
            <a:endParaRPr sz="1300">
              <a:solidFill>
                <a:schemeClr val="dk1"/>
              </a:solidFill>
            </a:endParaRPr>
          </a:p>
          <a:p>
            <a:pPr indent="0" lvl="0" marL="0" rtl="0" algn="l">
              <a:spcBef>
                <a:spcPts val="0"/>
              </a:spcBef>
              <a:spcAft>
                <a:spcPts val="0"/>
              </a:spcAft>
              <a:buClr>
                <a:schemeClr val="dk1"/>
              </a:buClr>
              <a:buSzPts val="1100"/>
              <a:buFont typeface="Arial"/>
              <a:buNone/>
            </a:pPr>
            <a:r>
              <a:rPr lang="en" sz="1300">
                <a:solidFill>
                  <a:schemeClr val="dk1"/>
                </a:solidFill>
              </a:rPr>
              <a:t>7. **Lemmatization:**</a:t>
            </a:r>
            <a:endParaRPr sz="1300">
              <a:solidFill>
                <a:schemeClr val="dk1"/>
              </a:solidFill>
            </a:endParaRPr>
          </a:p>
          <a:p>
            <a:pPr indent="0" lvl="0" marL="0" rtl="0" algn="l">
              <a:spcBef>
                <a:spcPts val="0"/>
              </a:spcBef>
              <a:spcAft>
                <a:spcPts val="0"/>
              </a:spcAft>
              <a:buClr>
                <a:schemeClr val="dk1"/>
              </a:buClr>
              <a:buSzPts val="1100"/>
              <a:buFont typeface="Arial"/>
              <a:buNone/>
            </a:pPr>
            <a:r>
              <a:rPr lang="en" sz="1300">
                <a:solidFill>
                  <a:schemeClr val="dk1"/>
                </a:solidFill>
              </a:rPr>
              <a:t>   - Hàm cuối cùng thực hiện lemmatization(lem mơ ti zây sần) bằng cách sử dụng WordNetLemmatizer của NLTK, xem xét cả động từ và danh từ.</a:t>
            </a:r>
            <a:endParaRPr sz="1300">
              <a:solidFill>
                <a:schemeClr val="dk1"/>
              </a:solidFill>
            </a:endParaRPr>
          </a:p>
          <a:p>
            <a:pPr indent="0" lvl="0" marL="0" rtl="0" algn="l">
              <a:spcBef>
                <a:spcPts val="0"/>
              </a:spcBef>
              <a:spcAft>
                <a:spcPts val="0"/>
              </a:spcAft>
              <a:buClr>
                <a:schemeClr val="dk1"/>
              </a:buClr>
              <a:buSzPts val="1100"/>
              <a:buFont typeface="Arial"/>
              <a:buNone/>
            </a:pPr>
            <a:r>
              <a:rPr lang="en" sz="1300">
                <a:solidFill>
                  <a:schemeClr val="dk1"/>
                </a:solidFill>
              </a:rPr>
              <a:t>sau khi tiền xử lý ta có một dataset sau xử lý và chia tập train test thành 7 3 và đưa vào mô hình </a:t>
            </a:r>
            <a:endParaRPr sz="1300">
              <a:solidFill>
                <a:schemeClr val="dk1"/>
              </a:solidFill>
            </a:endParaRPr>
          </a:p>
          <a:p>
            <a:pPr indent="0" lvl="0" marL="0" rtl="0" algn="l">
              <a:spcBef>
                <a:spcPts val="0"/>
              </a:spcBef>
              <a:spcAft>
                <a:spcPts val="0"/>
              </a:spcAft>
              <a:buNone/>
            </a:pPr>
            <a:r>
              <a:t/>
            </a:r>
            <a:endParaRPr sz="1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66a7ee130b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66a7ee130b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200">
              <a:solidFill>
                <a:schemeClr val="dk1"/>
              </a:solidFill>
              <a:highlight>
                <a:schemeClr val="lt1"/>
              </a:highlight>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highlight>
                  <a:schemeClr val="lt1"/>
                </a:highlight>
                <a:latin typeface="Roboto"/>
                <a:ea typeface="Roboto"/>
                <a:cs typeface="Roboto"/>
                <a:sym typeface="Roboto"/>
              </a:rPr>
              <a:t>sử dụng mô hình Logistic Regression thông qua </a:t>
            </a:r>
            <a:r>
              <a:rPr lang="en" sz="1050">
                <a:solidFill>
                  <a:schemeClr val="dk1"/>
                </a:solidFill>
                <a:highlight>
                  <a:schemeClr val="lt1"/>
                </a:highlight>
                <a:latin typeface="Courier New"/>
                <a:ea typeface="Courier New"/>
                <a:cs typeface="Courier New"/>
                <a:sym typeface="Courier New"/>
              </a:rPr>
              <a:t>LogisticRegression</a:t>
            </a:r>
            <a:r>
              <a:rPr lang="en" sz="1200">
                <a:solidFill>
                  <a:schemeClr val="dk1"/>
                </a:solidFill>
                <a:highlight>
                  <a:schemeClr val="lt1"/>
                </a:highlight>
                <a:latin typeface="Roboto"/>
                <a:ea typeface="Roboto"/>
                <a:cs typeface="Roboto"/>
                <a:sym typeface="Roboto"/>
              </a:rPr>
              <a:t> trong PySpark ML.</a:t>
            </a:r>
            <a:endParaRPr sz="1200">
              <a:solidFill>
                <a:schemeClr val="dk1"/>
              </a:solidFill>
              <a:highlight>
                <a:schemeClr val="lt1"/>
              </a:highlight>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050">
                <a:solidFill>
                  <a:schemeClr val="dk1"/>
                </a:solidFill>
                <a:highlight>
                  <a:schemeClr val="lt1"/>
                </a:highlight>
                <a:latin typeface="Courier New"/>
                <a:ea typeface="Courier New"/>
                <a:cs typeface="Courier New"/>
                <a:sym typeface="Courier New"/>
              </a:rPr>
              <a:t>epoch=10</a:t>
            </a:r>
            <a:endParaRPr sz="1200">
              <a:solidFill>
                <a:schemeClr val="dk1"/>
              </a:solidFill>
              <a:highlight>
                <a:schemeClr val="lt1"/>
              </a:highlight>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050">
                <a:solidFill>
                  <a:schemeClr val="dk1"/>
                </a:solidFill>
                <a:highlight>
                  <a:schemeClr val="lt1"/>
                </a:highlight>
                <a:latin typeface="Courier New"/>
                <a:ea typeface="Courier New"/>
                <a:cs typeface="Courier New"/>
                <a:sym typeface="Courier New"/>
              </a:rPr>
              <a:t>regParam=0.01</a:t>
            </a:r>
            <a:r>
              <a:rPr lang="en" sz="1200">
                <a:solidFill>
                  <a:schemeClr val="dk1"/>
                </a:solidFill>
                <a:highlight>
                  <a:schemeClr val="lt1"/>
                </a:highlight>
                <a:latin typeface="Roboto"/>
                <a:ea typeface="Roboto"/>
                <a:cs typeface="Roboto"/>
                <a:sym typeface="Roboto"/>
              </a:rPr>
              <a:t> là tham số điều chuẩn (regularization parameter) để kiểm soát quá mức của mô hình, giúp tránh overfitting.</a:t>
            </a:r>
            <a:endParaRPr sz="1200">
              <a:solidFill>
                <a:schemeClr val="dk1"/>
              </a:solidFill>
              <a:highlight>
                <a:schemeClr val="lt1"/>
              </a:highlight>
              <a:latin typeface="Roboto"/>
              <a:ea typeface="Roboto"/>
              <a:cs typeface="Roboto"/>
              <a:sym typeface="Roboto"/>
            </a:endParaRPr>
          </a:p>
          <a:p>
            <a:pPr indent="0" lvl="0" marL="457200" rtl="0" algn="l">
              <a:lnSpc>
                <a:spcPct val="115000"/>
              </a:lnSpc>
              <a:spcBef>
                <a:spcPts val="0"/>
              </a:spcBef>
              <a:spcAft>
                <a:spcPts val="0"/>
              </a:spcAft>
              <a:buNone/>
            </a:pPr>
            <a:r>
              <a:rPr lang="en" sz="1200">
                <a:solidFill>
                  <a:schemeClr val="dk1"/>
                </a:solidFill>
                <a:highlight>
                  <a:schemeClr val="lt1"/>
                </a:highlight>
                <a:latin typeface="Roboto"/>
                <a:ea typeface="Roboto"/>
                <a:cs typeface="Roboto"/>
                <a:sym typeface="Roboto"/>
              </a:rPr>
              <a:t> pipeline là một kỹ thuật quan trọng giúp tổ chức và triển khai các quy trình xử lý dữ liệu và máy học một cách hiệu quả. Một pipeline bao gồm một chuỗi các công đoạn xử lý dữ liệu và mô hình học máy được tổ chức theo một chuỗi logic. </a:t>
            </a:r>
            <a:endParaRPr sz="1200">
              <a:solidFill>
                <a:schemeClr val="dk1"/>
              </a:solidFill>
              <a:highlight>
                <a:schemeClr val="lt1"/>
              </a:highlight>
              <a:latin typeface="Roboto"/>
              <a:ea typeface="Roboto"/>
              <a:cs typeface="Roboto"/>
              <a:sym typeface="Roboto"/>
            </a:endParaRPr>
          </a:p>
          <a:p>
            <a:pPr indent="0" lvl="0" marL="457200" rtl="0" algn="l">
              <a:lnSpc>
                <a:spcPct val="115000"/>
              </a:lnSpc>
              <a:spcBef>
                <a:spcPts val="0"/>
              </a:spcBef>
              <a:spcAft>
                <a:spcPts val="0"/>
              </a:spcAft>
              <a:buNone/>
            </a:pPr>
            <a:r>
              <a:rPr lang="en" sz="1050">
                <a:solidFill>
                  <a:srgbClr val="D1D5DB"/>
                </a:solidFill>
                <a:highlight>
                  <a:srgbClr val="343541"/>
                </a:highlight>
                <a:latin typeface="Courier New"/>
                <a:ea typeface="Courier New"/>
                <a:cs typeface="Courier New"/>
                <a:sym typeface="Courier New"/>
              </a:rPr>
              <a:t>Pipeline</a:t>
            </a:r>
            <a:r>
              <a:rPr lang="en" sz="1200">
                <a:solidFill>
                  <a:srgbClr val="D1D5DB"/>
                </a:solidFill>
                <a:highlight>
                  <a:srgbClr val="343541"/>
                </a:highlight>
                <a:latin typeface="Roboto"/>
                <a:ea typeface="Roboto"/>
                <a:cs typeface="Roboto"/>
                <a:sym typeface="Roboto"/>
              </a:rPr>
              <a:t>  bao gồm các giai đoạn sau:</a:t>
            </a:r>
            <a:endParaRPr sz="1200">
              <a:solidFill>
                <a:srgbClr val="D1D5DB"/>
              </a:solidFill>
              <a:highlight>
                <a:srgbClr val="343541"/>
              </a:highlight>
              <a:latin typeface="Roboto"/>
              <a:ea typeface="Roboto"/>
              <a:cs typeface="Roboto"/>
              <a:sym typeface="Roboto"/>
            </a:endParaRPr>
          </a:p>
          <a:p>
            <a:pPr indent="-228600" lvl="0" marL="457200" rtl="0" algn="l">
              <a:lnSpc>
                <a:spcPct val="115000"/>
              </a:lnSpc>
              <a:spcBef>
                <a:spcPts val="1500"/>
              </a:spcBef>
              <a:spcAft>
                <a:spcPts val="0"/>
              </a:spcAft>
              <a:buClr>
                <a:srgbClr val="D1D5DB"/>
              </a:buClr>
              <a:buSzPts val="1200"/>
              <a:buFont typeface="Roboto"/>
              <a:buNone/>
            </a:pPr>
            <a:r>
              <a:rPr lang="en" sz="1200">
                <a:solidFill>
                  <a:srgbClr val="D1D5DB"/>
                </a:solidFill>
                <a:highlight>
                  <a:srgbClr val="343541"/>
                </a:highlight>
                <a:latin typeface="Roboto"/>
                <a:ea typeface="Roboto"/>
                <a:cs typeface="Roboto"/>
                <a:sym typeface="Roboto"/>
              </a:rPr>
              <a:t>Tokenizer(tố kần nài dờ) Stage: Chia câu văn thành các từ riêng lẻ (tokenization).</a:t>
            </a:r>
            <a:endParaRPr sz="1200">
              <a:solidFill>
                <a:srgbClr val="D1D5DB"/>
              </a:solidFill>
              <a:highlight>
                <a:srgbClr val="343541"/>
              </a:highlight>
              <a:latin typeface="Roboto"/>
              <a:ea typeface="Roboto"/>
              <a:cs typeface="Roboto"/>
              <a:sym typeface="Roboto"/>
            </a:endParaRPr>
          </a:p>
          <a:p>
            <a:pPr indent="-228600" lvl="0" marL="457200" rtl="0" algn="l">
              <a:lnSpc>
                <a:spcPct val="115000"/>
              </a:lnSpc>
              <a:spcBef>
                <a:spcPts val="0"/>
              </a:spcBef>
              <a:spcAft>
                <a:spcPts val="0"/>
              </a:spcAft>
              <a:buClr>
                <a:srgbClr val="D1D5DB"/>
              </a:buClr>
              <a:buSzPts val="1200"/>
              <a:buFont typeface="Roboto"/>
              <a:buNone/>
            </a:pPr>
            <a:r>
              <a:rPr lang="en" sz="1200">
                <a:solidFill>
                  <a:srgbClr val="D1D5DB"/>
                </a:solidFill>
                <a:highlight>
                  <a:srgbClr val="343541"/>
                </a:highlight>
                <a:latin typeface="Roboto"/>
                <a:ea typeface="Roboto"/>
                <a:cs typeface="Roboto"/>
                <a:sym typeface="Roboto"/>
              </a:rPr>
              <a:t>HashingTF Stage: Chuyển đổi các từ thành vectơ đặc trưng bằng cách sử dụng phương pháp HashingTF.</a:t>
            </a:r>
            <a:endParaRPr sz="1200">
              <a:solidFill>
                <a:srgbClr val="D1D5DB"/>
              </a:solidFill>
              <a:highlight>
                <a:srgbClr val="343541"/>
              </a:highlight>
              <a:latin typeface="Roboto"/>
              <a:ea typeface="Roboto"/>
              <a:cs typeface="Roboto"/>
              <a:sym typeface="Roboto"/>
            </a:endParaRPr>
          </a:p>
          <a:p>
            <a:pPr indent="-228600" lvl="0" marL="457200" rtl="0" algn="l">
              <a:lnSpc>
                <a:spcPct val="115000"/>
              </a:lnSpc>
              <a:spcBef>
                <a:spcPts val="0"/>
              </a:spcBef>
              <a:spcAft>
                <a:spcPts val="0"/>
              </a:spcAft>
              <a:buClr>
                <a:srgbClr val="D1D5DB"/>
              </a:buClr>
              <a:buSzPts val="1200"/>
              <a:buFont typeface="Roboto"/>
              <a:buNone/>
            </a:pPr>
            <a:r>
              <a:rPr lang="en" sz="1200">
                <a:solidFill>
                  <a:srgbClr val="D1D5DB"/>
                </a:solidFill>
                <a:highlight>
                  <a:srgbClr val="343541"/>
                </a:highlight>
                <a:latin typeface="Roboto"/>
                <a:ea typeface="Roboto"/>
                <a:cs typeface="Roboto"/>
                <a:sym typeface="Roboto"/>
              </a:rPr>
              <a:t>IDF Stage: Tính toán và áp dụng IDF (Inverse Document Frequency) để tạo vectơ đặc trưng cuối cùng.</a:t>
            </a:r>
            <a:endParaRPr sz="1200">
              <a:solidFill>
                <a:srgbClr val="D1D5DB"/>
              </a:solidFill>
              <a:highlight>
                <a:srgbClr val="343541"/>
              </a:highlight>
              <a:latin typeface="Roboto"/>
              <a:ea typeface="Roboto"/>
              <a:cs typeface="Roboto"/>
              <a:sym typeface="Roboto"/>
            </a:endParaRPr>
          </a:p>
          <a:p>
            <a:pPr indent="-228600" lvl="0" marL="457200" rtl="0" algn="l">
              <a:lnSpc>
                <a:spcPct val="115000"/>
              </a:lnSpc>
              <a:spcBef>
                <a:spcPts val="0"/>
              </a:spcBef>
              <a:spcAft>
                <a:spcPts val="0"/>
              </a:spcAft>
              <a:buClr>
                <a:srgbClr val="D1D5DB"/>
              </a:buClr>
              <a:buSzPts val="1200"/>
              <a:buFont typeface="Roboto"/>
              <a:buNone/>
            </a:pPr>
            <a:r>
              <a:rPr lang="en" sz="1200">
                <a:solidFill>
                  <a:srgbClr val="D1D5DB"/>
                </a:solidFill>
                <a:highlight>
                  <a:srgbClr val="343541"/>
                </a:highlight>
                <a:latin typeface="Roboto"/>
                <a:ea typeface="Roboto"/>
                <a:cs typeface="Roboto"/>
                <a:sym typeface="Roboto"/>
              </a:rPr>
              <a:t>Mô hình Học Máy Stage:  mô hình Logistic Regression để phân loại văn bản.</a:t>
            </a:r>
            <a:endParaRPr sz="1200">
              <a:solidFill>
                <a:srgbClr val="D1D5DB"/>
              </a:solidFill>
              <a:highlight>
                <a:srgbClr val="343541"/>
              </a:highlight>
              <a:latin typeface="Roboto"/>
              <a:ea typeface="Roboto"/>
              <a:cs typeface="Roboto"/>
              <a:sym typeface="Roboto"/>
            </a:endParaRPr>
          </a:p>
          <a:p>
            <a:pPr indent="0" lvl="0" marL="457200" rtl="0" algn="l">
              <a:lnSpc>
                <a:spcPct val="115000"/>
              </a:lnSpc>
              <a:spcBef>
                <a:spcPts val="1500"/>
              </a:spcBef>
              <a:spcAft>
                <a:spcPts val="0"/>
              </a:spcAft>
              <a:buNone/>
            </a:pPr>
            <a:r>
              <a:t/>
            </a:r>
            <a:endParaRPr sz="1200">
              <a:solidFill>
                <a:schemeClr val="dk1"/>
              </a:solidFill>
              <a:highlight>
                <a:schemeClr val="lt1"/>
              </a:highlight>
              <a:latin typeface="Roboto"/>
              <a:ea typeface="Roboto"/>
              <a:cs typeface="Roboto"/>
              <a:sym typeface="Roboto"/>
            </a:endParaRPr>
          </a:p>
          <a:p>
            <a:pPr indent="0" lvl="0" marL="0" rtl="0" algn="l">
              <a:spcBef>
                <a:spcPts val="0"/>
              </a:spcBef>
              <a:spcAft>
                <a:spcPts val="0"/>
              </a:spcAft>
              <a:buNone/>
            </a:pPr>
            <a:r>
              <a:rPr lang="en" sz="1200">
                <a:solidFill>
                  <a:schemeClr val="dk1"/>
                </a:solidFill>
                <a:highlight>
                  <a:schemeClr val="lt1"/>
                </a:highlight>
                <a:latin typeface="Roboto"/>
                <a:ea typeface="Roboto"/>
                <a:cs typeface="Roboto"/>
                <a:sym typeface="Roboto"/>
              </a:rPr>
              <a:t>Một khi </a:t>
            </a:r>
            <a:r>
              <a:rPr lang="en" sz="950">
                <a:solidFill>
                  <a:schemeClr val="dk1"/>
                </a:solidFill>
                <a:highlight>
                  <a:schemeClr val="lt1"/>
                </a:highlight>
                <a:latin typeface="Courier New"/>
                <a:ea typeface="Courier New"/>
                <a:cs typeface="Courier New"/>
                <a:sym typeface="Courier New"/>
              </a:rPr>
              <a:t>pipeline</a:t>
            </a:r>
            <a:r>
              <a:rPr lang="en" sz="1200">
                <a:solidFill>
                  <a:schemeClr val="dk1"/>
                </a:solidFill>
                <a:highlight>
                  <a:schemeClr val="lt1"/>
                </a:highlight>
                <a:latin typeface="Roboto"/>
                <a:ea typeface="Roboto"/>
                <a:cs typeface="Roboto"/>
                <a:sym typeface="Roboto"/>
              </a:rPr>
              <a:t> đã được xây dựng và cấu hình với các giai đoạn cụ thể, nó được sử dụng để thực hiện tất cả các bước xử lý và dự đoán trên dữ liệu mới một cách tự động. Điều này giúp đơn giản hóa quá trình và dễ quản lý mã hơn, đặc biệt là khi có nhiều bước xử lý và mô hình hóa cần được thực hiện.</a:t>
            </a:r>
            <a:endParaRPr sz="100">
              <a:solidFill>
                <a:schemeClr val="dk1"/>
              </a:solidFill>
              <a:highlight>
                <a:schemeClr val="lt1"/>
              </a:highlight>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66aa8a4492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66aa8a4492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66b78b6f3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66b78b6f3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highlight>
                  <a:schemeClr val="lt1"/>
                </a:highlight>
                <a:latin typeface="Roboto"/>
                <a:ea typeface="Roboto"/>
                <a:cs typeface="Roboto"/>
                <a:sym typeface="Roboto"/>
              </a:rPr>
              <a:t>sử dụng mô hình Logistic Regression thông qua </a:t>
            </a:r>
            <a:r>
              <a:rPr lang="en" sz="1050">
                <a:solidFill>
                  <a:schemeClr val="dk1"/>
                </a:solidFill>
                <a:highlight>
                  <a:schemeClr val="lt1"/>
                </a:highlight>
                <a:latin typeface="Courier New"/>
                <a:ea typeface="Courier New"/>
                <a:cs typeface="Courier New"/>
                <a:sym typeface="Courier New"/>
              </a:rPr>
              <a:t>LogisticRegression</a:t>
            </a:r>
            <a:r>
              <a:rPr lang="en" sz="1200">
                <a:solidFill>
                  <a:schemeClr val="dk1"/>
                </a:solidFill>
                <a:highlight>
                  <a:schemeClr val="lt1"/>
                </a:highlight>
                <a:latin typeface="Roboto"/>
                <a:ea typeface="Roboto"/>
                <a:cs typeface="Roboto"/>
                <a:sym typeface="Roboto"/>
              </a:rPr>
              <a:t> trong PySpark ML.</a:t>
            </a:r>
            <a:endParaRPr sz="1200">
              <a:solidFill>
                <a:schemeClr val="dk1"/>
              </a:solidFill>
              <a:highlight>
                <a:schemeClr val="lt1"/>
              </a:highlight>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050">
                <a:solidFill>
                  <a:schemeClr val="dk1"/>
                </a:solidFill>
                <a:highlight>
                  <a:schemeClr val="lt1"/>
                </a:highlight>
                <a:latin typeface="Courier New"/>
                <a:ea typeface="Courier New"/>
                <a:cs typeface="Courier New"/>
                <a:sym typeface="Courier New"/>
              </a:rPr>
              <a:t>epoch=10</a:t>
            </a:r>
            <a:endParaRPr sz="1200">
              <a:solidFill>
                <a:schemeClr val="dk1"/>
              </a:solidFill>
              <a:highlight>
                <a:schemeClr val="lt1"/>
              </a:highlight>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050">
                <a:solidFill>
                  <a:schemeClr val="dk1"/>
                </a:solidFill>
                <a:highlight>
                  <a:schemeClr val="lt1"/>
                </a:highlight>
                <a:latin typeface="Courier New"/>
                <a:ea typeface="Courier New"/>
                <a:cs typeface="Courier New"/>
                <a:sym typeface="Courier New"/>
              </a:rPr>
              <a:t>regParam=0.01</a:t>
            </a:r>
            <a:r>
              <a:rPr lang="en" sz="1200">
                <a:solidFill>
                  <a:schemeClr val="dk1"/>
                </a:solidFill>
                <a:highlight>
                  <a:schemeClr val="lt1"/>
                </a:highlight>
                <a:latin typeface="Roboto"/>
                <a:ea typeface="Roboto"/>
                <a:cs typeface="Roboto"/>
                <a:sym typeface="Roboto"/>
              </a:rPr>
              <a:t> là tham số điều chuẩn (regularization parameter) để kiểm soát quá mức của mô hình, giúp tránh overfitting.</a:t>
            </a:r>
            <a:endParaRPr sz="1200">
              <a:solidFill>
                <a:schemeClr val="dk1"/>
              </a:solidFill>
              <a:highlight>
                <a:schemeClr val="lt1"/>
              </a:highlight>
              <a:latin typeface="Roboto"/>
              <a:ea typeface="Roboto"/>
              <a:cs typeface="Roboto"/>
              <a:sym typeface="Roboto"/>
            </a:endParaRPr>
          </a:p>
          <a:p>
            <a:pPr indent="0" lvl="0" marL="457200" rtl="0" algn="l">
              <a:lnSpc>
                <a:spcPct val="115000"/>
              </a:lnSpc>
              <a:spcBef>
                <a:spcPts val="0"/>
              </a:spcBef>
              <a:spcAft>
                <a:spcPts val="0"/>
              </a:spcAft>
              <a:buNone/>
            </a:pPr>
            <a:r>
              <a:rPr lang="en" sz="1200">
                <a:solidFill>
                  <a:schemeClr val="dk1"/>
                </a:solidFill>
                <a:highlight>
                  <a:schemeClr val="lt1"/>
                </a:highlight>
                <a:latin typeface="Roboto"/>
                <a:ea typeface="Roboto"/>
                <a:cs typeface="Roboto"/>
                <a:sym typeface="Roboto"/>
              </a:rPr>
              <a:t> pipeline là một kỹ thuật quan trọng giúp tổ chức và triển khai các quy trình xử lý dữ liệu và máy học một cách hiệu quả. Một pipeline bao gồm một chuỗi các công đoạn xử lý dữ liệu và mô hình học máy được tổ chức theo một chuỗi logic. </a:t>
            </a:r>
            <a:endParaRPr sz="1200">
              <a:solidFill>
                <a:schemeClr val="dk1"/>
              </a:solidFill>
              <a:highlight>
                <a:schemeClr val="lt1"/>
              </a:highlight>
              <a:latin typeface="Roboto"/>
              <a:ea typeface="Roboto"/>
              <a:cs typeface="Roboto"/>
              <a:sym typeface="Roboto"/>
            </a:endParaRPr>
          </a:p>
          <a:p>
            <a:pPr indent="0" lvl="0" marL="457200" rtl="0" algn="l">
              <a:lnSpc>
                <a:spcPct val="115000"/>
              </a:lnSpc>
              <a:spcBef>
                <a:spcPts val="0"/>
              </a:spcBef>
              <a:spcAft>
                <a:spcPts val="0"/>
              </a:spcAft>
              <a:buNone/>
            </a:pPr>
            <a:r>
              <a:rPr lang="en" sz="1050">
                <a:solidFill>
                  <a:srgbClr val="D1D5DB"/>
                </a:solidFill>
                <a:highlight>
                  <a:srgbClr val="343541"/>
                </a:highlight>
                <a:latin typeface="Courier New"/>
                <a:ea typeface="Courier New"/>
                <a:cs typeface="Courier New"/>
                <a:sym typeface="Courier New"/>
              </a:rPr>
              <a:t>Pipeline</a:t>
            </a:r>
            <a:r>
              <a:rPr lang="en" sz="1200">
                <a:solidFill>
                  <a:srgbClr val="D1D5DB"/>
                </a:solidFill>
                <a:highlight>
                  <a:srgbClr val="343541"/>
                </a:highlight>
                <a:latin typeface="Roboto"/>
                <a:ea typeface="Roboto"/>
                <a:cs typeface="Roboto"/>
                <a:sym typeface="Roboto"/>
              </a:rPr>
              <a:t>  bao gồm các giai đoạn sau:</a:t>
            </a:r>
            <a:endParaRPr sz="1200">
              <a:solidFill>
                <a:srgbClr val="D1D5DB"/>
              </a:solidFill>
              <a:highlight>
                <a:srgbClr val="343541"/>
              </a:highlight>
              <a:latin typeface="Roboto"/>
              <a:ea typeface="Roboto"/>
              <a:cs typeface="Roboto"/>
              <a:sym typeface="Roboto"/>
            </a:endParaRPr>
          </a:p>
          <a:p>
            <a:pPr indent="-228600" lvl="0" marL="457200" rtl="0" algn="l">
              <a:lnSpc>
                <a:spcPct val="115000"/>
              </a:lnSpc>
              <a:spcBef>
                <a:spcPts val="1500"/>
              </a:spcBef>
              <a:spcAft>
                <a:spcPts val="0"/>
              </a:spcAft>
              <a:buClr>
                <a:srgbClr val="D1D5DB"/>
              </a:buClr>
              <a:buSzPts val="1200"/>
              <a:buFont typeface="Roboto"/>
              <a:buNone/>
            </a:pPr>
            <a:r>
              <a:rPr lang="en" sz="1200">
                <a:solidFill>
                  <a:srgbClr val="D1D5DB"/>
                </a:solidFill>
                <a:highlight>
                  <a:srgbClr val="343541"/>
                </a:highlight>
                <a:latin typeface="Roboto"/>
                <a:ea typeface="Roboto"/>
                <a:cs typeface="Roboto"/>
                <a:sym typeface="Roboto"/>
              </a:rPr>
              <a:t>Tokenizer Stage: Chia câu văn thành các từ riêng lẻ (tokenization).</a:t>
            </a:r>
            <a:endParaRPr sz="1200">
              <a:solidFill>
                <a:srgbClr val="D1D5DB"/>
              </a:solidFill>
              <a:highlight>
                <a:srgbClr val="343541"/>
              </a:highlight>
              <a:latin typeface="Roboto"/>
              <a:ea typeface="Roboto"/>
              <a:cs typeface="Roboto"/>
              <a:sym typeface="Roboto"/>
            </a:endParaRPr>
          </a:p>
          <a:p>
            <a:pPr indent="-228600" lvl="0" marL="457200" rtl="0" algn="l">
              <a:lnSpc>
                <a:spcPct val="115000"/>
              </a:lnSpc>
              <a:spcBef>
                <a:spcPts val="0"/>
              </a:spcBef>
              <a:spcAft>
                <a:spcPts val="0"/>
              </a:spcAft>
              <a:buClr>
                <a:srgbClr val="D1D5DB"/>
              </a:buClr>
              <a:buSzPts val="1200"/>
              <a:buFont typeface="Roboto"/>
              <a:buNone/>
            </a:pPr>
            <a:r>
              <a:rPr lang="en" sz="1200">
                <a:solidFill>
                  <a:srgbClr val="D1D5DB"/>
                </a:solidFill>
                <a:highlight>
                  <a:srgbClr val="343541"/>
                </a:highlight>
                <a:latin typeface="Roboto"/>
                <a:ea typeface="Roboto"/>
                <a:cs typeface="Roboto"/>
                <a:sym typeface="Roboto"/>
              </a:rPr>
              <a:t>HashingTF Stage: Chuyển đổi các từ thành vectơ đặc trưng bằng cách sử dụng phương pháp HashingTF.</a:t>
            </a:r>
            <a:endParaRPr sz="1200">
              <a:solidFill>
                <a:srgbClr val="D1D5DB"/>
              </a:solidFill>
              <a:highlight>
                <a:srgbClr val="343541"/>
              </a:highlight>
              <a:latin typeface="Roboto"/>
              <a:ea typeface="Roboto"/>
              <a:cs typeface="Roboto"/>
              <a:sym typeface="Roboto"/>
            </a:endParaRPr>
          </a:p>
          <a:p>
            <a:pPr indent="-228600" lvl="0" marL="457200" rtl="0" algn="l">
              <a:lnSpc>
                <a:spcPct val="115000"/>
              </a:lnSpc>
              <a:spcBef>
                <a:spcPts val="0"/>
              </a:spcBef>
              <a:spcAft>
                <a:spcPts val="0"/>
              </a:spcAft>
              <a:buClr>
                <a:srgbClr val="D1D5DB"/>
              </a:buClr>
              <a:buSzPts val="1200"/>
              <a:buFont typeface="Roboto"/>
              <a:buNone/>
            </a:pPr>
            <a:r>
              <a:rPr lang="en" sz="1200">
                <a:solidFill>
                  <a:srgbClr val="D1D5DB"/>
                </a:solidFill>
                <a:highlight>
                  <a:srgbClr val="343541"/>
                </a:highlight>
                <a:latin typeface="Roboto"/>
                <a:ea typeface="Roboto"/>
                <a:cs typeface="Roboto"/>
                <a:sym typeface="Roboto"/>
              </a:rPr>
              <a:t>IDF Stage: Tính toán và áp dụng IDF (Inverse Document Frequency) để tạo vectơ đặc trưng cuối cùng.</a:t>
            </a:r>
            <a:endParaRPr sz="1200">
              <a:solidFill>
                <a:srgbClr val="D1D5DB"/>
              </a:solidFill>
              <a:highlight>
                <a:srgbClr val="343541"/>
              </a:highlight>
              <a:latin typeface="Roboto"/>
              <a:ea typeface="Roboto"/>
              <a:cs typeface="Roboto"/>
              <a:sym typeface="Roboto"/>
            </a:endParaRPr>
          </a:p>
          <a:p>
            <a:pPr indent="-228600" lvl="0" marL="457200" rtl="0" algn="l">
              <a:lnSpc>
                <a:spcPct val="115000"/>
              </a:lnSpc>
              <a:spcBef>
                <a:spcPts val="0"/>
              </a:spcBef>
              <a:spcAft>
                <a:spcPts val="0"/>
              </a:spcAft>
              <a:buClr>
                <a:srgbClr val="D1D5DB"/>
              </a:buClr>
              <a:buSzPts val="1200"/>
              <a:buFont typeface="Roboto"/>
              <a:buNone/>
            </a:pPr>
            <a:r>
              <a:rPr lang="en" sz="1200">
                <a:solidFill>
                  <a:srgbClr val="D1D5DB"/>
                </a:solidFill>
                <a:highlight>
                  <a:srgbClr val="343541"/>
                </a:highlight>
                <a:latin typeface="Roboto"/>
                <a:ea typeface="Roboto"/>
                <a:cs typeface="Roboto"/>
                <a:sym typeface="Roboto"/>
              </a:rPr>
              <a:t>Mô hình Học Máy Stage:  mô hình Logistic Regression để phân loại văn bản.</a:t>
            </a:r>
            <a:endParaRPr sz="1200">
              <a:solidFill>
                <a:srgbClr val="D1D5DB"/>
              </a:solidFill>
              <a:highlight>
                <a:srgbClr val="343541"/>
              </a:highlight>
              <a:latin typeface="Roboto"/>
              <a:ea typeface="Roboto"/>
              <a:cs typeface="Roboto"/>
              <a:sym typeface="Roboto"/>
            </a:endParaRPr>
          </a:p>
          <a:p>
            <a:pPr indent="0" lvl="0" marL="457200" rtl="0" algn="l">
              <a:lnSpc>
                <a:spcPct val="115000"/>
              </a:lnSpc>
              <a:spcBef>
                <a:spcPts val="1500"/>
              </a:spcBef>
              <a:spcAft>
                <a:spcPts val="0"/>
              </a:spcAft>
              <a:buNone/>
            </a:pPr>
            <a:r>
              <a:t/>
            </a:r>
            <a:endParaRPr sz="1200">
              <a:solidFill>
                <a:schemeClr val="dk1"/>
              </a:solidFill>
              <a:highlight>
                <a:schemeClr val="lt1"/>
              </a:highlight>
              <a:latin typeface="Roboto"/>
              <a:ea typeface="Roboto"/>
              <a:cs typeface="Roboto"/>
              <a:sym typeface="Roboto"/>
            </a:endParaRPr>
          </a:p>
          <a:p>
            <a:pPr indent="0" lvl="0" marL="0" rtl="0" algn="l">
              <a:spcBef>
                <a:spcPts val="0"/>
              </a:spcBef>
              <a:spcAft>
                <a:spcPts val="0"/>
              </a:spcAft>
              <a:buNone/>
            </a:pPr>
            <a:r>
              <a:rPr lang="en" sz="1200">
                <a:solidFill>
                  <a:schemeClr val="dk1"/>
                </a:solidFill>
                <a:highlight>
                  <a:schemeClr val="lt1"/>
                </a:highlight>
                <a:latin typeface="Roboto"/>
                <a:ea typeface="Roboto"/>
                <a:cs typeface="Roboto"/>
                <a:sym typeface="Roboto"/>
              </a:rPr>
              <a:t>Một khi </a:t>
            </a:r>
            <a:r>
              <a:rPr lang="en" sz="950">
                <a:solidFill>
                  <a:schemeClr val="dk1"/>
                </a:solidFill>
                <a:highlight>
                  <a:schemeClr val="lt1"/>
                </a:highlight>
                <a:latin typeface="Courier New"/>
                <a:ea typeface="Courier New"/>
                <a:cs typeface="Courier New"/>
                <a:sym typeface="Courier New"/>
              </a:rPr>
              <a:t>pipeline</a:t>
            </a:r>
            <a:r>
              <a:rPr lang="en" sz="1200">
                <a:solidFill>
                  <a:schemeClr val="dk1"/>
                </a:solidFill>
                <a:highlight>
                  <a:schemeClr val="lt1"/>
                </a:highlight>
                <a:latin typeface="Roboto"/>
                <a:ea typeface="Roboto"/>
                <a:cs typeface="Roboto"/>
                <a:sym typeface="Roboto"/>
              </a:rPr>
              <a:t> đã được xây dựng và cấu hình với các giai đoạn cụ thể, nó được sử dụng để thực hiện tất cả các bước xử lý và dự đoán trên dữ liệu mới một cách tự động. Điều này giúp đơn giản hóa quá trình và dễ quản lý mã hơn, đặc biệt là khi bạn có nhiều bước xử lý và mô hình hóa cần được thực hiện.</a:t>
            </a:r>
            <a:endParaRPr sz="100">
              <a:solidFill>
                <a:schemeClr val="dk1"/>
              </a:solidFill>
              <a:highlight>
                <a:schemeClr val="lt1"/>
              </a:highlight>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66aa8a4492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66aa8a4492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4286250" y="0"/>
            <a:ext cx="7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4358475" y="0"/>
            <a:ext cx="3853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6800"/>
              <a:buFont typeface="Playfair Display"/>
              <a:buNone/>
              <a:defRPr b="1" sz="6800">
                <a:latin typeface="Playfair Display"/>
                <a:ea typeface="Playfair Display"/>
                <a:cs typeface="Playfair Display"/>
                <a:sym typeface="Playfair Display"/>
              </a:defRPr>
            </a:lvl1pPr>
            <a:lvl2pPr lvl="1" algn="ctr">
              <a:spcBef>
                <a:spcPts val="0"/>
              </a:spcBef>
              <a:spcAft>
                <a:spcPts val="0"/>
              </a:spcAft>
              <a:buSzPts val="6800"/>
              <a:buFont typeface="Playfair Display"/>
              <a:buNone/>
              <a:defRPr b="1" sz="6800">
                <a:latin typeface="Playfair Display"/>
                <a:ea typeface="Playfair Display"/>
                <a:cs typeface="Playfair Display"/>
                <a:sym typeface="Playfair Display"/>
              </a:defRPr>
            </a:lvl2pPr>
            <a:lvl3pPr lvl="2" algn="ctr">
              <a:spcBef>
                <a:spcPts val="0"/>
              </a:spcBef>
              <a:spcAft>
                <a:spcPts val="0"/>
              </a:spcAft>
              <a:buSzPts val="6800"/>
              <a:buFont typeface="Playfair Display"/>
              <a:buNone/>
              <a:defRPr b="1" sz="6800">
                <a:latin typeface="Playfair Display"/>
                <a:ea typeface="Playfair Display"/>
                <a:cs typeface="Playfair Display"/>
                <a:sym typeface="Playfair Display"/>
              </a:defRPr>
            </a:lvl3pPr>
            <a:lvl4pPr lvl="3" algn="ctr">
              <a:spcBef>
                <a:spcPts val="0"/>
              </a:spcBef>
              <a:spcAft>
                <a:spcPts val="0"/>
              </a:spcAft>
              <a:buSzPts val="6800"/>
              <a:buFont typeface="Playfair Display"/>
              <a:buNone/>
              <a:defRPr b="1" sz="6800">
                <a:latin typeface="Playfair Display"/>
                <a:ea typeface="Playfair Display"/>
                <a:cs typeface="Playfair Display"/>
                <a:sym typeface="Playfair Display"/>
              </a:defRPr>
            </a:lvl4pPr>
            <a:lvl5pPr lvl="4" algn="ctr">
              <a:spcBef>
                <a:spcPts val="0"/>
              </a:spcBef>
              <a:spcAft>
                <a:spcPts val="0"/>
              </a:spcAft>
              <a:buSzPts val="6800"/>
              <a:buFont typeface="Playfair Display"/>
              <a:buNone/>
              <a:defRPr b="1" sz="6800">
                <a:latin typeface="Playfair Display"/>
                <a:ea typeface="Playfair Display"/>
                <a:cs typeface="Playfair Display"/>
                <a:sym typeface="Playfair Display"/>
              </a:defRPr>
            </a:lvl5pPr>
            <a:lvl6pPr lvl="5" algn="ctr">
              <a:spcBef>
                <a:spcPts val="0"/>
              </a:spcBef>
              <a:spcAft>
                <a:spcPts val="0"/>
              </a:spcAft>
              <a:buSzPts val="6800"/>
              <a:buFont typeface="Playfair Display"/>
              <a:buNone/>
              <a:defRPr b="1" sz="6800">
                <a:latin typeface="Playfair Display"/>
                <a:ea typeface="Playfair Display"/>
                <a:cs typeface="Playfair Display"/>
                <a:sym typeface="Playfair Display"/>
              </a:defRPr>
            </a:lvl6pPr>
            <a:lvl7pPr lvl="6" algn="ctr">
              <a:spcBef>
                <a:spcPts val="0"/>
              </a:spcBef>
              <a:spcAft>
                <a:spcPts val="0"/>
              </a:spcAft>
              <a:buSzPts val="6800"/>
              <a:buFont typeface="Playfair Display"/>
              <a:buNone/>
              <a:defRPr b="1" sz="6800">
                <a:latin typeface="Playfair Display"/>
                <a:ea typeface="Playfair Display"/>
                <a:cs typeface="Playfair Display"/>
                <a:sym typeface="Playfair Display"/>
              </a:defRPr>
            </a:lvl7pPr>
            <a:lvl8pPr lvl="7" algn="ctr">
              <a:spcBef>
                <a:spcPts val="0"/>
              </a:spcBef>
              <a:spcAft>
                <a:spcPts val="0"/>
              </a:spcAft>
              <a:buSzPts val="6800"/>
              <a:buFont typeface="Playfair Display"/>
              <a:buNone/>
              <a:defRPr b="1" sz="6800">
                <a:latin typeface="Playfair Display"/>
                <a:ea typeface="Playfair Display"/>
                <a:cs typeface="Playfair Display"/>
                <a:sym typeface="Playfair Display"/>
              </a:defRPr>
            </a:lvl8pPr>
            <a:lvl9pPr lvl="8" algn="ctr">
              <a:spcBef>
                <a:spcPts val="0"/>
              </a:spcBef>
              <a:spcAft>
                <a:spcPts val="0"/>
              </a:spcAft>
              <a:buSzPts val="6800"/>
              <a:buFont typeface="Playfair Display"/>
              <a:buNone/>
              <a:defRPr b="1" sz="6800">
                <a:latin typeface="Playfair Display"/>
                <a:ea typeface="Playfair Display"/>
                <a:cs typeface="Playfair Display"/>
                <a:sym typeface="Playfair Display"/>
              </a:defRPr>
            </a:lvl9pPr>
          </a:lstStyle>
          <a:p/>
        </p:txBody>
      </p:sp>
      <p:sp>
        <p:nvSpPr>
          <p:cNvPr id="13" name="Google Shape;13;p2"/>
          <p:cNvSpPr txBox="1"/>
          <p:nvPr>
            <p:ph idx="1" type="subTitle"/>
          </p:nvPr>
        </p:nvSpPr>
        <p:spPr>
          <a:xfrm>
            <a:off x="344250" y="3550650"/>
            <a:ext cx="4910100" cy="577800"/>
          </a:xfrm>
          <a:prstGeom prst="rect">
            <a:avLst/>
          </a:prstGeom>
          <a:solidFill>
            <a:schemeClr val="dk2"/>
          </a:solidFill>
        </p:spPr>
        <p:txBody>
          <a:bodyPr anchorCtr="0" anchor="ctr" bIns="91425" lIns="91425" spcFirstLastPara="1" rIns="91425" wrap="square" tIns="91425">
            <a:normAutofit/>
          </a:bodyPr>
          <a:lstStyle>
            <a:lvl1pPr lv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1pPr>
            <a:lvl2pPr lvl="1">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2pPr>
            <a:lvl3pPr lvl="2">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3pPr>
            <a:lvl4pPr lvl="3">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4pPr>
            <a:lvl5pPr lvl="4">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5pPr>
            <a:lvl6pPr lvl="5">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6pPr>
            <a:lvl7pPr lvl="6">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7pPr>
            <a:lvl8pPr lvl="7">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8pPr>
            <a:lvl9pPr lvl="8">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9pPr>
          </a:lstStyle>
          <a:p/>
        </p:txBody>
      </p:sp>
      <p:sp>
        <p:nvSpPr>
          <p:cNvPr id="14" name="Google Shape;14;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4"/>
        </a:solidFill>
      </p:bgPr>
    </p:bg>
    <p:spTree>
      <p:nvGrpSpPr>
        <p:cNvPr id="15" name="Shape 15"/>
        <p:cNvGrpSpPr/>
        <p:nvPr/>
      </p:nvGrpSpPr>
      <p:grpSpPr>
        <a:xfrm>
          <a:off x="0" y="0"/>
          <a:ext cx="0" cy="0"/>
          <a:chOff x="0" y="0"/>
          <a:chExt cx="0" cy="0"/>
        </a:xfrm>
      </p:grpSpPr>
      <p:sp>
        <p:nvSpPr>
          <p:cNvPr id="16" name="Google Shape;16;p3"/>
          <p:cNvSpPr/>
          <p:nvPr/>
        </p:nvSpPr>
        <p:spPr>
          <a:xfrm rot="5400000">
            <a:off x="4550700" y="-498600"/>
            <a:ext cx="42600" cy="845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Font typeface="Playfair Display"/>
              <a:buNone/>
              <a:defRPr b="1" sz="4800">
                <a:latin typeface="Playfair Display"/>
                <a:ea typeface="Playfair Display"/>
                <a:cs typeface="Playfair Display"/>
                <a:sym typeface="Playfair Display"/>
              </a:defRPr>
            </a:lvl1pPr>
            <a:lvl2pPr lvl="1" algn="ctr">
              <a:spcBef>
                <a:spcPts val="0"/>
              </a:spcBef>
              <a:spcAft>
                <a:spcPts val="0"/>
              </a:spcAft>
              <a:buSzPts val="4800"/>
              <a:buFont typeface="Playfair Display"/>
              <a:buNone/>
              <a:defRPr b="1" sz="4800">
                <a:latin typeface="Playfair Display"/>
                <a:ea typeface="Playfair Display"/>
                <a:cs typeface="Playfair Display"/>
                <a:sym typeface="Playfair Display"/>
              </a:defRPr>
            </a:lvl2pPr>
            <a:lvl3pPr lvl="2" algn="ctr">
              <a:spcBef>
                <a:spcPts val="0"/>
              </a:spcBef>
              <a:spcAft>
                <a:spcPts val="0"/>
              </a:spcAft>
              <a:buSzPts val="4800"/>
              <a:buFont typeface="Playfair Display"/>
              <a:buNone/>
              <a:defRPr b="1" sz="4800">
                <a:latin typeface="Playfair Display"/>
                <a:ea typeface="Playfair Display"/>
                <a:cs typeface="Playfair Display"/>
                <a:sym typeface="Playfair Display"/>
              </a:defRPr>
            </a:lvl3pPr>
            <a:lvl4pPr lvl="3" algn="ctr">
              <a:spcBef>
                <a:spcPts val="0"/>
              </a:spcBef>
              <a:spcAft>
                <a:spcPts val="0"/>
              </a:spcAft>
              <a:buSzPts val="4800"/>
              <a:buFont typeface="Playfair Display"/>
              <a:buNone/>
              <a:defRPr b="1" sz="4800">
                <a:latin typeface="Playfair Display"/>
                <a:ea typeface="Playfair Display"/>
                <a:cs typeface="Playfair Display"/>
                <a:sym typeface="Playfair Display"/>
              </a:defRPr>
            </a:lvl4pPr>
            <a:lvl5pPr lvl="4" algn="ctr">
              <a:spcBef>
                <a:spcPts val="0"/>
              </a:spcBef>
              <a:spcAft>
                <a:spcPts val="0"/>
              </a:spcAft>
              <a:buSzPts val="4800"/>
              <a:buFont typeface="Playfair Display"/>
              <a:buNone/>
              <a:defRPr b="1" sz="4800">
                <a:latin typeface="Playfair Display"/>
                <a:ea typeface="Playfair Display"/>
                <a:cs typeface="Playfair Display"/>
                <a:sym typeface="Playfair Display"/>
              </a:defRPr>
            </a:lvl5pPr>
            <a:lvl6pPr lvl="5" algn="ctr">
              <a:spcBef>
                <a:spcPts val="0"/>
              </a:spcBef>
              <a:spcAft>
                <a:spcPts val="0"/>
              </a:spcAft>
              <a:buSzPts val="4800"/>
              <a:buFont typeface="Playfair Display"/>
              <a:buNone/>
              <a:defRPr b="1" sz="4800">
                <a:latin typeface="Playfair Display"/>
                <a:ea typeface="Playfair Display"/>
                <a:cs typeface="Playfair Display"/>
                <a:sym typeface="Playfair Display"/>
              </a:defRPr>
            </a:lvl6pPr>
            <a:lvl7pPr lvl="6" algn="ctr">
              <a:spcBef>
                <a:spcPts val="0"/>
              </a:spcBef>
              <a:spcAft>
                <a:spcPts val="0"/>
              </a:spcAft>
              <a:buSzPts val="4800"/>
              <a:buFont typeface="Playfair Display"/>
              <a:buNone/>
              <a:defRPr b="1" sz="4800">
                <a:latin typeface="Playfair Display"/>
                <a:ea typeface="Playfair Display"/>
                <a:cs typeface="Playfair Display"/>
                <a:sym typeface="Playfair Display"/>
              </a:defRPr>
            </a:lvl7pPr>
            <a:lvl8pPr lvl="7" algn="ctr">
              <a:spcBef>
                <a:spcPts val="0"/>
              </a:spcBef>
              <a:spcAft>
                <a:spcPts val="0"/>
              </a:spcAft>
              <a:buSzPts val="4800"/>
              <a:buFont typeface="Playfair Display"/>
              <a:buNone/>
              <a:defRPr b="1" sz="4800">
                <a:latin typeface="Playfair Display"/>
                <a:ea typeface="Playfair Display"/>
                <a:cs typeface="Playfair Display"/>
                <a:sym typeface="Playfair Display"/>
              </a:defRPr>
            </a:lvl8pPr>
            <a:lvl9pPr lvl="8" algn="ctr">
              <a:spcBef>
                <a:spcPts val="0"/>
              </a:spcBef>
              <a:spcAft>
                <a:spcPts val="0"/>
              </a:spcAft>
              <a:buSzPts val="4800"/>
              <a:buFont typeface="Playfair Display"/>
              <a:buNone/>
              <a:defRPr b="1" sz="4800">
                <a:latin typeface="Playfair Display"/>
                <a:ea typeface="Playfair Display"/>
                <a:cs typeface="Playfair Display"/>
                <a:sym typeface="Playfair Display"/>
              </a:defRPr>
            </a:lvl9pPr>
          </a:lstStyle>
          <a:p/>
        </p:txBody>
      </p:sp>
      <p:sp>
        <p:nvSpPr>
          <p:cNvPr id="18" name="Google Shape;18;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 name="Google Shape;21;p4"/>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5"/>
          <p:cNvSpPr txBox="1"/>
          <p:nvPr>
            <p:ph idx="1" type="body"/>
          </p:nvPr>
        </p:nvSpPr>
        <p:spPr>
          <a:xfrm>
            <a:off x="3117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1pPr>
            <a:lvl2pPr lvl="1">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2pPr>
            <a:lvl3pPr lvl="2">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3pPr>
            <a:lvl4pPr lvl="3">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4pPr>
            <a:lvl5pPr lvl="4">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5pPr>
            <a:lvl6pPr lvl="5">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6pPr>
            <a:lvl7pPr lvl="6">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7pPr>
            <a:lvl8pPr lvl="7">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8pPr>
            <a:lvl9pPr lvl="8">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9pPr>
          </a:lstStyle>
          <a:p/>
        </p:txBody>
      </p:sp>
      <p:sp>
        <p:nvSpPr>
          <p:cNvPr id="37" name="Google Shape;3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9"/>
          <p:cNvSpPr txBox="1"/>
          <p:nvPr>
            <p:ph type="title"/>
          </p:nvPr>
        </p:nvSpPr>
        <p:spPr>
          <a:xfrm>
            <a:off x="265500" y="10816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highlight>
                  <a:schemeClr val="lt1"/>
                </a:highlight>
              </a:defRPr>
            </a:lvl1pPr>
            <a:lvl2pPr indent="-317500" lvl="1" marL="914400">
              <a:spcBef>
                <a:spcPts val="0"/>
              </a:spcBef>
              <a:spcAft>
                <a:spcPts val="0"/>
              </a:spcAft>
              <a:buSzPts val="1400"/>
              <a:buChar char="○"/>
              <a:defRPr>
                <a:highlight>
                  <a:schemeClr val="lt1"/>
                </a:highlight>
              </a:defRPr>
            </a:lvl2pPr>
            <a:lvl3pPr indent="-317500" lvl="2" marL="1371600">
              <a:spcBef>
                <a:spcPts val="0"/>
              </a:spcBef>
              <a:spcAft>
                <a:spcPts val="0"/>
              </a:spcAft>
              <a:buSzPts val="1400"/>
              <a:buChar char="■"/>
              <a:defRPr>
                <a:highlight>
                  <a:schemeClr val="lt1"/>
                </a:highlight>
              </a:defRPr>
            </a:lvl3pPr>
            <a:lvl4pPr indent="-317500" lvl="3" marL="1828800">
              <a:spcBef>
                <a:spcPts val="0"/>
              </a:spcBef>
              <a:spcAft>
                <a:spcPts val="0"/>
              </a:spcAft>
              <a:buSzPts val="1400"/>
              <a:buChar char="●"/>
              <a:defRPr>
                <a:highlight>
                  <a:schemeClr val="lt1"/>
                </a:highlight>
              </a:defRPr>
            </a:lvl4pPr>
            <a:lvl5pPr indent="-317500" lvl="4" marL="2286000">
              <a:spcBef>
                <a:spcPts val="0"/>
              </a:spcBef>
              <a:spcAft>
                <a:spcPts val="0"/>
              </a:spcAft>
              <a:buSzPts val="1400"/>
              <a:buChar char="○"/>
              <a:defRPr>
                <a:highlight>
                  <a:schemeClr val="lt1"/>
                </a:highlight>
              </a:defRPr>
            </a:lvl5pPr>
            <a:lvl6pPr indent="-317500" lvl="5" marL="2743200">
              <a:spcBef>
                <a:spcPts val="0"/>
              </a:spcBef>
              <a:spcAft>
                <a:spcPts val="0"/>
              </a:spcAft>
              <a:buSzPts val="1400"/>
              <a:buChar char="■"/>
              <a:defRPr>
                <a:highlight>
                  <a:schemeClr val="lt1"/>
                </a:highlight>
              </a:defRPr>
            </a:lvl6pPr>
            <a:lvl7pPr indent="-317500" lvl="6" marL="3200400">
              <a:spcBef>
                <a:spcPts val="0"/>
              </a:spcBef>
              <a:spcAft>
                <a:spcPts val="0"/>
              </a:spcAft>
              <a:buSzPts val="1400"/>
              <a:buChar char="●"/>
              <a:defRPr>
                <a:highlight>
                  <a:schemeClr val="lt1"/>
                </a:highlight>
              </a:defRPr>
            </a:lvl7pPr>
            <a:lvl8pPr indent="-317500" lvl="7" marL="3657600">
              <a:spcBef>
                <a:spcPts val="0"/>
              </a:spcBef>
              <a:spcAft>
                <a:spcPts val="0"/>
              </a:spcAft>
              <a:buSzPts val="1400"/>
              <a:buChar char="○"/>
              <a:defRPr>
                <a:highlight>
                  <a:schemeClr val="lt1"/>
                </a:highlight>
              </a:defRPr>
            </a:lvl8pPr>
            <a:lvl9pPr indent="-317500" lvl="8" marL="4114800">
              <a:spcBef>
                <a:spcPts val="0"/>
              </a:spcBef>
              <a:spcAft>
                <a:spcPts val="0"/>
              </a:spcAft>
              <a:buSzPts val="1400"/>
              <a:buChar char="■"/>
              <a:defRPr>
                <a:highlight>
                  <a:schemeClr val="lt1"/>
                </a:highlight>
              </a:defRPr>
            </a:lvl9pPr>
          </a:lstStyle>
          <a:p/>
        </p:txBody>
      </p:sp>
      <p:sp>
        <p:nvSpPr>
          <p:cNvPr id="44" name="Google Shape;4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highlight>
                  <a:schemeClr val="dk1"/>
                </a:highlight>
              </a:defRPr>
            </a:lvl1pPr>
          </a:lstStyle>
          <a:p/>
        </p:txBody>
      </p:sp>
      <p:sp>
        <p:nvSpPr>
          <p:cNvPr id="47" name="Google Shape;47;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999925"/>
            <a:ext cx="8520600" cy="214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Font typeface="Montserrat"/>
              <a:buNone/>
              <a:defRPr sz="14000">
                <a:latin typeface="Montserrat"/>
                <a:ea typeface="Montserrat"/>
                <a:cs typeface="Montserrat"/>
                <a:sym typeface="Montserrat"/>
              </a:defRPr>
            </a:lvl1pPr>
            <a:lvl2pPr lvl="1" algn="ctr">
              <a:spcBef>
                <a:spcPts val="0"/>
              </a:spcBef>
              <a:spcAft>
                <a:spcPts val="0"/>
              </a:spcAft>
              <a:buSzPts val="14000"/>
              <a:buFont typeface="Montserrat"/>
              <a:buNone/>
              <a:defRPr sz="14000">
                <a:latin typeface="Montserrat"/>
                <a:ea typeface="Montserrat"/>
                <a:cs typeface="Montserrat"/>
                <a:sym typeface="Montserrat"/>
              </a:defRPr>
            </a:lvl2pPr>
            <a:lvl3pPr lvl="2" algn="ctr">
              <a:spcBef>
                <a:spcPts val="0"/>
              </a:spcBef>
              <a:spcAft>
                <a:spcPts val="0"/>
              </a:spcAft>
              <a:buSzPts val="14000"/>
              <a:buFont typeface="Montserrat"/>
              <a:buNone/>
              <a:defRPr sz="14000">
                <a:latin typeface="Montserrat"/>
                <a:ea typeface="Montserrat"/>
                <a:cs typeface="Montserrat"/>
                <a:sym typeface="Montserrat"/>
              </a:defRPr>
            </a:lvl3pPr>
            <a:lvl4pPr lvl="3" algn="ctr">
              <a:spcBef>
                <a:spcPts val="0"/>
              </a:spcBef>
              <a:spcAft>
                <a:spcPts val="0"/>
              </a:spcAft>
              <a:buSzPts val="14000"/>
              <a:buFont typeface="Montserrat"/>
              <a:buNone/>
              <a:defRPr sz="14000">
                <a:latin typeface="Montserrat"/>
                <a:ea typeface="Montserrat"/>
                <a:cs typeface="Montserrat"/>
                <a:sym typeface="Montserrat"/>
              </a:defRPr>
            </a:lvl4pPr>
            <a:lvl5pPr lvl="4" algn="ctr">
              <a:spcBef>
                <a:spcPts val="0"/>
              </a:spcBef>
              <a:spcAft>
                <a:spcPts val="0"/>
              </a:spcAft>
              <a:buSzPts val="14000"/>
              <a:buFont typeface="Montserrat"/>
              <a:buNone/>
              <a:defRPr sz="14000">
                <a:latin typeface="Montserrat"/>
                <a:ea typeface="Montserrat"/>
                <a:cs typeface="Montserrat"/>
                <a:sym typeface="Montserrat"/>
              </a:defRPr>
            </a:lvl5pPr>
            <a:lvl6pPr lvl="5" algn="ctr">
              <a:spcBef>
                <a:spcPts val="0"/>
              </a:spcBef>
              <a:spcAft>
                <a:spcPts val="0"/>
              </a:spcAft>
              <a:buSzPts val="14000"/>
              <a:buFont typeface="Montserrat"/>
              <a:buNone/>
              <a:defRPr sz="14000">
                <a:latin typeface="Montserrat"/>
                <a:ea typeface="Montserrat"/>
                <a:cs typeface="Montserrat"/>
                <a:sym typeface="Montserrat"/>
              </a:defRPr>
            </a:lvl6pPr>
            <a:lvl7pPr lvl="6" algn="ctr">
              <a:spcBef>
                <a:spcPts val="0"/>
              </a:spcBef>
              <a:spcAft>
                <a:spcPts val="0"/>
              </a:spcAft>
              <a:buSzPts val="14000"/>
              <a:buFont typeface="Montserrat"/>
              <a:buNone/>
              <a:defRPr sz="14000">
                <a:latin typeface="Montserrat"/>
                <a:ea typeface="Montserrat"/>
                <a:cs typeface="Montserrat"/>
                <a:sym typeface="Montserrat"/>
              </a:defRPr>
            </a:lvl7pPr>
            <a:lvl8pPr lvl="7" algn="ctr">
              <a:spcBef>
                <a:spcPts val="0"/>
              </a:spcBef>
              <a:spcAft>
                <a:spcPts val="0"/>
              </a:spcAft>
              <a:buSzPts val="14000"/>
              <a:buFont typeface="Montserrat"/>
              <a:buNone/>
              <a:defRPr sz="14000">
                <a:latin typeface="Montserrat"/>
                <a:ea typeface="Montserrat"/>
                <a:cs typeface="Montserrat"/>
                <a:sym typeface="Montserrat"/>
              </a:defRPr>
            </a:lvl8pPr>
            <a:lvl9pPr lvl="8" algn="ctr">
              <a:spcBef>
                <a:spcPts val="0"/>
              </a:spcBef>
              <a:spcAft>
                <a:spcPts val="0"/>
              </a:spcAft>
              <a:buSzPts val="14000"/>
              <a:buFont typeface="Montserrat"/>
              <a:buNone/>
              <a:defRPr sz="14000">
                <a:latin typeface="Montserrat"/>
                <a:ea typeface="Montserrat"/>
                <a:cs typeface="Montserrat"/>
                <a:sym typeface="Montserrat"/>
              </a:defRPr>
            </a:lvl9pPr>
          </a:lstStyle>
          <a:p>
            <a:r>
              <a:t>xx%</a:t>
            </a:r>
          </a:p>
        </p:txBody>
      </p:sp>
      <p:sp>
        <p:nvSpPr>
          <p:cNvPr id="50" name="Google Shape;50;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highlight>
                  <a:schemeClr val="dk1"/>
                </a:highlight>
              </a:defRPr>
            </a:lvl1pPr>
            <a:lvl2pPr indent="-317500" lvl="1" marL="914400" algn="ctr">
              <a:spcBef>
                <a:spcPts val="0"/>
              </a:spcBef>
              <a:spcAft>
                <a:spcPts val="0"/>
              </a:spcAft>
              <a:buSzPts val="1400"/>
              <a:buChar char="○"/>
              <a:defRPr>
                <a:highlight>
                  <a:schemeClr val="dk1"/>
                </a:highlight>
              </a:defRPr>
            </a:lvl2pPr>
            <a:lvl3pPr indent="-317500" lvl="2" marL="1371600" algn="ctr">
              <a:spcBef>
                <a:spcPts val="0"/>
              </a:spcBef>
              <a:spcAft>
                <a:spcPts val="0"/>
              </a:spcAft>
              <a:buSzPts val="1400"/>
              <a:buChar char="■"/>
              <a:defRPr>
                <a:highlight>
                  <a:schemeClr val="dk1"/>
                </a:highlight>
              </a:defRPr>
            </a:lvl3pPr>
            <a:lvl4pPr indent="-317500" lvl="3" marL="1828800" algn="ctr">
              <a:spcBef>
                <a:spcPts val="0"/>
              </a:spcBef>
              <a:spcAft>
                <a:spcPts val="0"/>
              </a:spcAft>
              <a:buSzPts val="1400"/>
              <a:buChar char="●"/>
              <a:defRPr>
                <a:highlight>
                  <a:schemeClr val="dk1"/>
                </a:highlight>
              </a:defRPr>
            </a:lvl4pPr>
            <a:lvl5pPr indent="-317500" lvl="4" marL="2286000" algn="ctr">
              <a:spcBef>
                <a:spcPts val="0"/>
              </a:spcBef>
              <a:spcAft>
                <a:spcPts val="0"/>
              </a:spcAft>
              <a:buSzPts val="1400"/>
              <a:buChar char="○"/>
              <a:defRPr>
                <a:highlight>
                  <a:schemeClr val="dk1"/>
                </a:highlight>
              </a:defRPr>
            </a:lvl5pPr>
            <a:lvl6pPr indent="-317500" lvl="5" marL="2743200" algn="ctr">
              <a:spcBef>
                <a:spcPts val="0"/>
              </a:spcBef>
              <a:spcAft>
                <a:spcPts val="0"/>
              </a:spcAft>
              <a:buSzPts val="1400"/>
              <a:buChar char="■"/>
              <a:defRPr>
                <a:highlight>
                  <a:schemeClr val="dk1"/>
                </a:highlight>
              </a:defRPr>
            </a:lvl6pPr>
            <a:lvl7pPr indent="-317500" lvl="6" marL="3200400" algn="ctr">
              <a:spcBef>
                <a:spcPts val="0"/>
              </a:spcBef>
              <a:spcAft>
                <a:spcPts val="0"/>
              </a:spcAft>
              <a:buSzPts val="1400"/>
              <a:buChar char="●"/>
              <a:defRPr>
                <a:highlight>
                  <a:schemeClr val="dk1"/>
                </a:highlight>
              </a:defRPr>
            </a:lvl7pPr>
            <a:lvl8pPr indent="-317500" lvl="7" marL="3657600" algn="ctr">
              <a:spcBef>
                <a:spcPts val="0"/>
              </a:spcBef>
              <a:spcAft>
                <a:spcPts val="0"/>
              </a:spcAft>
              <a:buSzPts val="1400"/>
              <a:buChar char="○"/>
              <a:defRPr>
                <a:highlight>
                  <a:schemeClr val="dk1"/>
                </a:highlight>
              </a:defRPr>
            </a:lvl8pPr>
            <a:lvl9pPr indent="-317500" lvl="8" marL="4114800" algn="ctr">
              <a:spcBef>
                <a:spcPts val="0"/>
              </a:spcBef>
              <a:spcAft>
                <a:spcPts val="0"/>
              </a:spcAft>
              <a:buSzPts val="1400"/>
              <a:buChar char="■"/>
              <a:defRPr>
                <a:highlight>
                  <a:schemeClr val="dk1"/>
                </a:highlight>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op">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9pPr>
          </a:lstStyle>
          <a:p/>
        </p:txBody>
      </p:sp>
      <p:sp>
        <p:nvSpPr>
          <p:cNvPr id="7" name="Google Shape;7;p1"/>
          <p:cNvSpPr txBox="1"/>
          <p:nvPr>
            <p:ph idx="1" type="body"/>
          </p:nvPr>
        </p:nvSpPr>
        <p:spPr>
          <a:xfrm>
            <a:off x="311700" y="1234075"/>
            <a:ext cx="8520600" cy="33348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layfair Display"/>
              <a:buChar char="●"/>
              <a:defRPr sz="1800">
                <a:solidFill>
                  <a:schemeClr val="dk2"/>
                </a:solidFill>
                <a:latin typeface="Playfair Display"/>
                <a:ea typeface="Playfair Display"/>
                <a:cs typeface="Playfair Display"/>
                <a:sym typeface="Playfair Display"/>
              </a:defRPr>
            </a:lvl1pPr>
            <a:lvl2pPr indent="-317500" lvl="1" marL="914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2pPr>
            <a:lvl3pPr indent="-317500" lvl="2" marL="1371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3pPr>
            <a:lvl4pPr indent="-317500" lvl="3" marL="1828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4pPr>
            <a:lvl5pPr indent="-317500" lvl="4" marL="22860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5pPr>
            <a:lvl6pPr indent="-317500" lvl="5" marL="27432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6pPr>
            <a:lvl7pPr indent="-317500" lvl="6" marL="3200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7pPr>
            <a:lvl8pPr indent="-317500" lvl="7" marL="3657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8pPr>
            <a:lvl9pPr indent="-317500" lvl="8" marL="4114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layfair Display"/>
                <a:ea typeface="Playfair Display"/>
                <a:cs typeface="Playfair Display"/>
                <a:sym typeface="Playfair Display"/>
              </a:defRPr>
            </a:lvl1pPr>
            <a:lvl2pPr lvl="1" algn="r">
              <a:buNone/>
              <a:defRPr sz="1000">
                <a:solidFill>
                  <a:schemeClr val="dk2"/>
                </a:solidFill>
                <a:latin typeface="Playfair Display"/>
                <a:ea typeface="Playfair Display"/>
                <a:cs typeface="Playfair Display"/>
                <a:sym typeface="Playfair Display"/>
              </a:defRPr>
            </a:lvl2pPr>
            <a:lvl3pPr lvl="2" algn="r">
              <a:buNone/>
              <a:defRPr sz="1000">
                <a:solidFill>
                  <a:schemeClr val="dk2"/>
                </a:solidFill>
                <a:latin typeface="Playfair Display"/>
                <a:ea typeface="Playfair Display"/>
                <a:cs typeface="Playfair Display"/>
                <a:sym typeface="Playfair Display"/>
              </a:defRPr>
            </a:lvl3pPr>
            <a:lvl4pPr lvl="3" algn="r">
              <a:buNone/>
              <a:defRPr sz="1000">
                <a:solidFill>
                  <a:schemeClr val="dk2"/>
                </a:solidFill>
                <a:latin typeface="Playfair Display"/>
                <a:ea typeface="Playfair Display"/>
                <a:cs typeface="Playfair Display"/>
                <a:sym typeface="Playfair Display"/>
              </a:defRPr>
            </a:lvl4pPr>
            <a:lvl5pPr lvl="4" algn="r">
              <a:buNone/>
              <a:defRPr sz="1000">
                <a:solidFill>
                  <a:schemeClr val="dk2"/>
                </a:solidFill>
                <a:latin typeface="Playfair Display"/>
                <a:ea typeface="Playfair Display"/>
                <a:cs typeface="Playfair Display"/>
                <a:sym typeface="Playfair Display"/>
              </a:defRPr>
            </a:lvl5pPr>
            <a:lvl6pPr lvl="5" algn="r">
              <a:buNone/>
              <a:defRPr sz="1000">
                <a:solidFill>
                  <a:schemeClr val="dk2"/>
                </a:solidFill>
                <a:latin typeface="Playfair Display"/>
                <a:ea typeface="Playfair Display"/>
                <a:cs typeface="Playfair Display"/>
                <a:sym typeface="Playfair Display"/>
              </a:defRPr>
            </a:lvl6pPr>
            <a:lvl7pPr lvl="6" algn="r">
              <a:buNone/>
              <a:defRPr sz="1000">
                <a:solidFill>
                  <a:schemeClr val="dk2"/>
                </a:solidFill>
                <a:latin typeface="Playfair Display"/>
                <a:ea typeface="Playfair Display"/>
                <a:cs typeface="Playfair Display"/>
                <a:sym typeface="Playfair Display"/>
              </a:defRPr>
            </a:lvl7pPr>
            <a:lvl8pPr lvl="7" algn="r">
              <a:buNone/>
              <a:defRPr sz="1000">
                <a:solidFill>
                  <a:schemeClr val="dk2"/>
                </a:solidFill>
                <a:latin typeface="Playfair Display"/>
                <a:ea typeface="Playfair Display"/>
                <a:cs typeface="Playfair Display"/>
                <a:sym typeface="Playfair Display"/>
              </a:defRPr>
            </a:lvl8pPr>
            <a:lvl9pPr lvl="8" algn="r">
              <a:buNone/>
              <a:defRPr sz="1000">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drive.google.com/file/d/12aTQ-AwSq_6Xt0eoOXSiwNFmYjJlIz6U/view" TargetMode="Externa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4000"/>
              <a:t>Real-time </a:t>
            </a:r>
            <a:r>
              <a:rPr lang="en" sz="4000"/>
              <a:t>Sentiment </a:t>
            </a:r>
            <a:r>
              <a:rPr lang="en" sz="4000"/>
              <a:t>Analysis </a:t>
            </a:r>
            <a:br>
              <a:rPr lang="en" sz="4000"/>
            </a:br>
            <a:r>
              <a:rPr lang="en" sz="4000"/>
              <a:t>Youtube Comments</a:t>
            </a:r>
            <a:br>
              <a:rPr lang="en" sz="4000"/>
            </a:br>
            <a:r>
              <a:rPr lang="en" sz="4000"/>
              <a:t>using Kafka and Pyspark</a:t>
            </a:r>
            <a:endParaRPr sz="4000"/>
          </a:p>
        </p:txBody>
      </p:sp>
      <p:sp>
        <p:nvSpPr>
          <p:cNvPr id="59" name="Google Shape;59;p13"/>
          <p:cNvSpPr txBox="1"/>
          <p:nvPr>
            <p:ph idx="1" type="subTitle"/>
          </p:nvPr>
        </p:nvSpPr>
        <p:spPr>
          <a:xfrm>
            <a:off x="344250" y="3550650"/>
            <a:ext cx="4910100" cy="577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GVHD: TS. Đỗ Trọng Hợp</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Danh sách thành viên</a:t>
            </a:r>
            <a:endParaRPr/>
          </a:p>
        </p:txBody>
      </p:sp>
      <p:graphicFrame>
        <p:nvGraphicFramePr>
          <p:cNvPr id="65" name="Google Shape;65;p14"/>
          <p:cNvGraphicFramePr/>
          <p:nvPr/>
        </p:nvGraphicFramePr>
        <p:xfrm>
          <a:off x="1648875" y="1779350"/>
          <a:ext cx="3000000" cy="3000000"/>
        </p:xfrm>
        <a:graphic>
          <a:graphicData uri="http://schemas.openxmlformats.org/drawingml/2006/table">
            <a:tbl>
              <a:tblPr>
                <a:noFill/>
                <a:tableStyleId>{27560D84-9D89-48F9-98BF-D3AC6DA59D85}</a:tableStyleId>
              </a:tblPr>
              <a:tblGrid>
                <a:gridCol w="3619500"/>
                <a:gridCol w="2226750"/>
              </a:tblGrid>
              <a:tr h="381000">
                <a:tc>
                  <a:txBody>
                    <a:bodyPr/>
                    <a:lstStyle/>
                    <a:p>
                      <a:pPr indent="0" lvl="0" marL="0" rtl="0" algn="ctr">
                        <a:spcBef>
                          <a:spcPts val="0"/>
                        </a:spcBef>
                        <a:spcAft>
                          <a:spcPts val="0"/>
                        </a:spcAft>
                        <a:buNone/>
                      </a:pPr>
                      <a:r>
                        <a:rPr b="1" lang="en"/>
                        <a:t>HỌ VÀ TÊN</a:t>
                      </a:r>
                      <a:endParaRPr b="1"/>
                    </a:p>
                  </a:txBody>
                  <a:tcPr marT="91425" marB="91425" marR="91425" marL="91425" anchor="ctr"/>
                </a:tc>
                <a:tc>
                  <a:txBody>
                    <a:bodyPr/>
                    <a:lstStyle/>
                    <a:p>
                      <a:pPr indent="0" lvl="0" marL="0" rtl="0" algn="ctr">
                        <a:spcBef>
                          <a:spcPts val="0"/>
                        </a:spcBef>
                        <a:spcAft>
                          <a:spcPts val="0"/>
                        </a:spcAft>
                        <a:buNone/>
                      </a:pPr>
                      <a:r>
                        <a:rPr b="1" lang="en"/>
                        <a:t>MÃ SỐ SINH VIÊN</a:t>
                      </a:r>
                      <a:endParaRPr b="1"/>
                    </a:p>
                  </a:txBody>
                  <a:tcPr marT="91425" marB="91425" marR="91425" marL="91425" anchor="ctr"/>
                </a:tc>
              </a:tr>
              <a:tr h="381000">
                <a:tc>
                  <a:txBody>
                    <a:bodyPr/>
                    <a:lstStyle/>
                    <a:p>
                      <a:pPr indent="0" lvl="0" marL="0" rtl="0" algn="ctr">
                        <a:spcBef>
                          <a:spcPts val="0"/>
                        </a:spcBef>
                        <a:spcAft>
                          <a:spcPts val="0"/>
                        </a:spcAft>
                        <a:buNone/>
                      </a:pPr>
                      <a:r>
                        <a:rPr lang="en"/>
                        <a:t>Nguyễn Triệu Kim Oanh</a:t>
                      </a:r>
                      <a:endParaRPr/>
                    </a:p>
                  </a:txBody>
                  <a:tcPr marT="91425" marB="91425" marR="91425" marL="91425" anchor="ctr"/>
                </a:tc>
                <a:tc>
                  <a:txBody>
                    <a:bodyPr/>
                    <a:lstStyle/>
                    <a:p>
                      <a:pPr indent="0" lvl="0" marL="0" rtl="0" algn="ctr">
                        <a:spcBef>
                          <a:spcPts val="0"/>
                        </a:spcBef>
                        <a:spcAft>
                          <a:spcPts val="0"/>
                        </a:spcAft>
                        <a:buNone/>
                      </a:pPr>
                      <a:r>
                        <a:rPr lang="en"/>
                        <a:t>20521729</a:t>
                      </a:r>
                      <a:endParaRPr/>
                    </a:p>
                  </a:txBody>
                  <a:tcPr marT="91425" marB="91425" marR="91425" marL="91425" anchor="ctr"/>
                </a:tc>
              </a:tr>
              <a:tr h="381000">
                <a:tc>
                  <a:txBody>
                    <a:bodyPr/>
                    <a:lstStyle/>
                    <a:p>
                      <a:pPr indent="0" lvl="0" marL="0" rtl="0" algn="ctr">
                        <a:spcBef>
                          <a:spcPts val="0"/>
                        </a:spcBef>
                        <a:spcAft>
                          <a:spcPts val="0"/>
                        </a:spcAft>
                        <a:buNone/>
                      </a:pPr>
                      <a:r>
                        <a:rPr lang="en"/>
                        <a:t>Nguyễn Phan Uyển Nhi</a:t>
                      </a:r>
                      <a:endParaRPr/>
                    </a:p>
                  </a:txBody>
                  <a:tcPr marT="91425" marB="91425" marR="91425" marL="91425" anchor="ctr"/>
                </a:tc>
                <a:tc>
                  <a:txBody>
                    <a:bodyPr/>
                    <a:lstStyle/>
                    <a:p>
                      <a:pPr indent="0" lvl="0" marL="0" rtl="0" algn="ctr">
                        <a:spcBef>
                          <a:spcPts val="0"/>
                        </a:spcBef>
                        <a:spcAft>
                          <a:spcPts val="0"/>
                        </a:spcAft>
                        <a:buNone/>
                      </a:pPr>
                      <a:r>
                        <a:rPr lang="en"/>
                        <a:t>20521714</a:t>
                      </a:r>
                      <a:endParaRPr/>
                    </a:p>
                  </a:txBody>
                  <a:tcPr marT="91425" marB="91425" marR="91425" marL="91425" anchor="ctr"/>
                </a:tc>
              </a:tr>
              <a:tr h="381000">
                <a:tc>
                  <a:txBody>
                    <a:bodyPr/>
                    <a:lstStyle/>
                    <a:p>
                      <a:pPr indent="0" lvl="0" marL="0" rtl="0" algn="ctr">
                        <a:spcBef>
                          <a:spcPts val="0"/>
                        </a:spcBef>
                        <a:spcAft>
                          <a:spcPts val="0"/>
                        </a:spcAft>
                        <a:buNone/>
                      </a:pPr>
                      <a:r>
                        <a:rPr lang="en"/>
                        <a:t>Trần Ngô Tuấn Kiệt</a:t>
                      </a:r>
                      <a:endParaRPr/>
                    </a:p>
                  </a:txBody>
                  <a:tcPr marT="91425" marB="91425" marR="91425" marL="91425" anchor="ctr"/>
                </a:tc>
                <a:tc>
                  <a:txBody>
                    <a:bodyPr/>
                    <a:lstStyle/>
                    <a:p>
                      <a:pPr indent="0" lvl="0" marL="0" rtl="0" algn="ctr">
                        <a:spcBef>
                          <a:spcPts val="0"/>
                        </a:spcBef>
                        <a:spcAft>
                          <a:spcPts val="0"/>
                        </a:spcAft>
                        <a:buNone/>
                      </a:pPr>
                      <a:r>
                        <a:rPr lang="en"/>
                        <a:t>20521505</a:t>
                      </a:r>
                      <a:endParaRPr/>
                    </a:p>
                  </a:txBody>
                  <a:tcPr marT="91425" marB="91425" marR="91425" marL="91425" anchor="ct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Tổng quan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Giới thiệu đề tài</a:t>
            </a:r>
            <a:endParaRPr/>
          </a:p>
        </p:txBody>
      </p:sp>
      <p:sp>
        <p:nvSpPr>
          <p:cNvPr id="76" name="Google Shape;76;p16"/>
          <p:cNvSpPr txBox="1"/>
          <p:nvPr>
            <p:ph idx="1" type="body"/>
          </p:nvPr>
        </p:nvSpPr>
        <p:spPr>
          <a:xfrm>
            <a:off x="311700" y="1396038"/>
            <a:ext cx="4058700" cy="23514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n"/>
              <a:t>Nghiên cứu tập trung vào việc phát triển một hệ thống phân tích tâm trạng theo thời gian thực cho các bình luận trên YouTube, sử dụng Kafka và PySpark để đảm bảo xử lý dữ liệu một cách hiệu quả</a:t>
            </a:r>
            <a:endParaRPr/>
          </a:p>
        </p:txBody>
      </p:sp>
      <p:pic>
        <p:nvPicPr>
          <p:cNvPr id="77" name="Google Shape;77;p16"/>
          <p:cNvPicPr preferRelativeResize="0"/>
          <p:nvPr/>
        </p:nvPicPr>
        <p:blipFill>
          <a:blip r:embed="rId3">
            <a:alphaModFix/>
          </a:blip>
          <a:stretch>
            <a:fillRect/>
          </a:stretch>
        </p:blipFill>
        <p:spPr>
          <a:xfrm>
            <a:off x="4721075" y="1576375"/>
            <a:ext cx="3724275" cy="1990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Lý do chọn đề tài</a:t>
            </a:r>
            <a:endParaRPr/>
          </a:p>
        </p:txBody>
      </p:sp>
      <p:sp>
        <p:nvSpPr>
          <p:cNvPr id="83" name="Google Shape;83;p17"/>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Cung cấp cái nhìn tổng quan về ý kiến của người xem đối với nội dung trên YouTube.</a:t>
            </a:r>
            <a:endParaRPr/>
          </a:p>
          <a:p>
            <a:pPr indent="-342900" lvl="0" marL="457200" rtl="0" algn="l">
              <a:spcBef>
                <a:spcPts val="1000"/>
              </a:spcBef>
              <a:spcAft>
                <a:spcPts val="1000"/>
              </a:spcAft>
              <a:buSzPts val="1800"/>
              <a:buChar char="●"/>
            </a:pPr>
            <a:r>
              <a:rPr lang="en"/>
              <a:t>Hỗ trợ người sáng tạo nội dung và nhà quảng cáo hiểu rõ tâm trạng của người dùng để tối ưu hóa chiến lược tiếp thị.</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Mục đích đề tài</a:t>
            </a:r>
            <a:endParaRPr/>
          </a:p>
        </p:txBody>
      </p:sp>
      <p:sp>
        <p:nvSpPr>
          <p:cNvPr id="89" name="Google Shape;89;p18"/>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Xây dựng một hệ thống có khả năng thu thập dữ liệu bình luận từ video YouTube theo thời gian thực, sử dụng Kafka như một hệ thống trung gian chuyển đổi dữ liệu.</a:t>
            </a:r>
            <a:endParaRPr/>
          </a:p>
          <a:p>
            <a:pPr indent="-342900" lvl="0" marL="457200" rtl="0" algn="l">
              <a:spcBef>
                <a:spcPts val="1000"/>
              </a:spcBef>
              <a:spcAft>
                <a:spcPts val="0"/>
              </a:spcAft>
              <a:buSzPts val="1800"/>
              <a:buChar char="●"/>
            </a:pPr>
            <a:r>
              <a:rPr lang="en"/>
              <a:t>Thực hiện phân tích cảm xúc người dùng từ các bình luận bằng cách sử dụng PySpark để xử lý dữ liệu lớn một cách nhanh chóng và hiệu quả.</a:t>
            </a:r>
            <a:endParaRPr/>
          </a:p>
          <a:p>
            <a:pPr indent="-342900" lvl="0" marL="457200" rtl="0" algn="l">
              <a:spcBef>
                <a:spcPts val="1000"/>
              </a:spcBef>
              <a:spcAft>
                <a:spcPts val="1000"/>
              </a:spcAft>
              <a:buSzPts val="1800"/>
              <a:buChar char="●"/>
            </a:pPr>
            <a:r>
              <a:rPr lang="en"/>
              <a:t>Hiển thị kết quả phân tích tâm trạng thông qua giao diện người dùng hoặc bảng điều khiển thời gian thực.</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Phương pháp đề xuất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idx="1" type="body"/>
          </p:nvPr>
        </p:nvSpPr>
        <p:spPr>
          <a:xfrm>
            <a:off x="311700" y="443275"/>
            <a:ext cx="8520600" cy="44340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b="1" lang="en" sz="1600"/>
              <a:t>Thu Thập Dữ Liệu Thời Gian Thực:</a:t>
            </a:r>
            <a:endParaRPr b="1" sz="1600"/>
          </a:p>
          <a:p>
            <a:pPr indent="457200" lvl="0" marL="0" rtl="0" algn="l">
              <a:spcBef>
                <a:spcPts val="1200"/>
              </a:spcBef>
              <a:spcAft>
                <a:spcPts val="0"/>
              </a:spcAft>
              <a:buNone/>
            </a:pPr>
            <a:r>
              <a:rPr lang="en" sz="1500"/>
              <a:t>Hệ thống tương tác với API YouTube để lấy nhận xét theo thời gian thực từ video YouTube. API đóng vai trò là nguồn dữ liệu cho đường truyền phát trực tuyến.</a:t>
            </a:r>
            <a:endParaRPr sz="1500"/>
          </a:p>
          <a:p>
            <a:pPr indent="-330200" lvl="0" marL="457200" rtl="0" algn="l">
              <a:spcBef>
                <a:spcPts val="1200"/>
              </a:spcBef>
              <a:spcAft>
                <a:spcPts val="0"/>
              </a:spcAft>
              <a:buSzPts val="1600"/>
              <a:buChar char="●"/>
            </a:pPr>
            <a:r>
              <a:rPr b="1" lang="en" sz="1600"/>
              <a:t>Xử Lý Dữ Liệu Bằng Kafka:</a:t>
            </a:r>
            <a:endParaRPr b="1" sz="1600"/>
          </a:p>
          <a:p>
            <a:pPr indent="457200" lvl="0" marL="0" rtl="0" algn="l">
              <a:spcBef>
                <a:spcPts val="1200"/>
              </a:spcBef>
              <a:spcAft>
                <a:spcPts val="0"/>
              </a:spcAft>
              <a:buNone/>
            </a:pPr>
            <a:r>
              <a:rPr lang="en" sz="1500"/>
              <a:t>Sử dụng Apache Kafka để xây dựng một hệ thống chuyển đổi dữ liệu hiệu quả giữa các bước thu thập và xử lý dữ liệu.</a:t>
            </a:r>
            <a:endParaRPr sz="1500"/>
          </a:p>
          <a:p>
            <a:pPr indent="-330200" lvl="0" marL="457200" rtl="0" algn="l">
              <a:spcBef>
                <a:spcPts val="1200"/>
              </a:spcBef>
              <a:spcAft>
                <a:spcPts val="0"/>
              </a:spcAft>
              <a:buSzPts val="1600"/>
              <a:buChar char="●"/>
            </a:pPr>
            <a:r>
              <a:rPr b="1" lang="en" sz="1600"/>
              <a:t>Phân Loại Cảm Xúc với PySpark:</a:t>
            </a:r>
            <a:endParaRPr b="1" sz="1600"/>
          </a:p>
          <a:p>
            <a:pPr indent="457200" lvl="0" marL="0" rtl="0" algn="l">
              <a:spcBef>
                <a:spcPts val="1200"/>
              </a:spcBef>
              <a:spcAft>
                <a:spcPts val="0"/>
              </a:spcAft>
              <a:buNone/>
            </a:pPr>
            <a:r>
              <a:rPr lang="en" sz="1500"/>
              <a:t>Sử dụng PySpark để thực hiện phân loại, bao gồm việc xử lý ngôn ngữ tự nhiên (NLP) để hiểu ý nghĩa của bình luận, và áp dụng mô hình học máy để phân loại cảm xúc.</a:t>
            </a:r>
            <a:endParaRPr sz="1500"/>
          </a:p>
          <a:p>
            <a:pPr indent="-330200" lvl="0" marL="457200" rtl="0" algn="l">
              <a:spcBef>
                <a:spcPts val="1200"/>
              </a:spcBef>
              <a:spcAft>
                <a:spcPts val="0"/>
              </a:spcAft>
              <a:buSzPts val="1600"/>
              <a:buChar char="●"/>
            </a:pPr>
            <a:r>
              <a:rPr b="1" lang="en" sz="1600"/>
              <a:t>Hiển thị kết quả</a:t>
            </a:r>
            <a:endParaRPr b="1" sz="1600"/>
          </a:p>
          <a:p>
            <a:pPr indent="457200" lvl="0" marL="0" rtl="0" algn="l">
              <a:spcBef>
                <a:spcPts val="1200"/>
              </a:spcBef>
              <a:spcAft>
                <a:spcPts val="0"/>
              </a:spcAft>
              <a:buNone/>
            </a:pPr>
            <a:r>
              <a:rPr lang="en" sz="1500"/>
              <a:t>Hiển thị danh sách các bình luận và dự đoán thông qua Reactjs</a:t>
            </a:r>
            <a:endParaRPr sz="1500"/>
          </a:p>
          <a:p>
            <a:pPr indent="0" lvl="0" marL="0" rtl="0" algn="l">
              <a:spcBef>
                <a:spcPts val="1200"/>
              </a:spcBef>
              <a:spcAft>
                <a:spcPts val="1200"/>
              </a:spcAft>
              <a:buNone/>
            </a:pPr>
            <a:r>
              <a:t/>
            </a:r>
            <a:endParaRPr b="1"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21"/>
          <p:cNvPicPr preferRelativeResize="0"/>
          <p:nvPr/>
        </p:nvPicPr>
        <p:blipFill>
          <a:blip r:embed="rId3">
            <a:alphaModFix/>
          </a:blip>
          <a:stretch>
            <a:fillRect/>
          </a:stretch>
        </p:blipFill>
        <p:spPr>
          <a:xfrm>
            <a:off x="973825" y="168575"/>
            <a:ext cx="7196350" cy="45689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Tập dữ liệu</a:t>
            </a:r>
            <a:r>
              <a:rPr lang="en"/>
              <a:t> và M</a:t>
            </a:r>
            <a:r>
              <a:rPr lang="en"/>
              <a:t>ô hình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a:t>
            </a:r>
            <a:r>
              <a:rPr lang="en"/>
              <a:t>Tập dữ liệu</a:t>
            </a:r>
            <a:endParaRPr/>
          </a:p>
        </p:txBody>
      </p:sp>
      <p:sp>
        <p:nvSpPr>
          <p:cNvPr id="115" name="Google Shape;115;p23"/>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Tên dữ liệu</a:t>
            </a:r>
            <a:r>
              <a:rPr lang="en"/>
              <a:t>: Amazon Fine Food Reviews</a:t>
            </a:r>
            <a:endParaRPr/>
          </a:p>
          <a:p>
            <a:pPr indent="0" lvl="0" marL="0" rtl="0" algn="l">
              <a:spcBef>
                <a:spcPts val="1200"/>
              </a:spcBef>
              <a:spcAft>
                <a:spcPts val="0"/>
              </a:spcAft>
              <a:buNone/>
            </a:pPr>
            <a:r>
              <a:rPr b="1" lang="en"/>
              <a:t>Mô tả</a:t>
            </a:r>
            <a:r>
              <a:rPr lang="en"/>
              <a:t>: Dữ liệu chứa 568454 đánh giá về các thực phẩm hảo hạng từ Amazon. Bao gồm 10 đặc trưng </a:t>
            </a:r>
            <a:endParaRPr b="1">
              <a:latin typeface="Arial"/>
              <a:ea typeface="Arial"/>
              <a:cs typeface="Arial"/>
              <a:sym typeface="Arial"/>
            </a:endParaRPr>
          </a:p>
          <a:p>
            <a:pPr indent="0" lvl="0" marL="0" rtl="0" algn="l">
              <a:spcBef>
                <a:spcPts val="1200"/>
              </a:spcBef>
              <a:spcAft>
                <a:spcPts val="0"/>
              </a:spcAft>
              <a:buNone/>
            </a:pPr>
            <a:r>
              <a:t/>
            </a:r>
            <a:endParaRPr b="1">
              <a:latin typeface="Arial"/>
              <a:ea typeface="Arial"/>
              <a:cs typeface="Arial"/>
              <a:sym typeface="Arial"/>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16" name="Google Shape;116;p23"/>
          <p:cNvPicPr preferRelativeResize="0"/>
          <p:nvPr/>
        </p:nvPicPr>
        <p:blipFill>
          <a:blip r:embed="rId3">
            <a:alphaModFix/>
          </a:blip>
          <a:stretch>
            <a:fillRect/>
          </a:stretch>
        </p:blipFill>
        <p:spPr>
          <a:xfrm>
            <a:off x="217825" y="2728950"/>
            <a:ext cx="8708352" cy="15400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Cách xử lý dữ liệu</a:t>
            </a:r>
            <a:endParaRPr/>
          </a:p>
        </p:txBody>
      </p:sp>
      <p:sp>
        <p:nvSpPr>
          <p:cNvPr id="122" name="Google Shape;122;p24"/>
          <p:cNvSpPr txBox="1"/>
          <p:nvPr>
            <p:ph idx="1" type="body"/>
          </p:nvPr>
        </p:nvSpPr>
        <p:spPr>
          <a:xfrm>
            <a:off x="311700" y="130502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342900" lvl="0" marL="457200" rtl="0" algn="l">
              <a:spcBef>
                <a:spcPts val="1200"/>
              </a:spcBef>
              <a:spcAft>
                <a:spcPts val="0"/>
              </a:spcAft>
              <a:buSzPts val="1800"/>
              <a:buAutoNum type="arabicPeriod"/>
            </a:pPr>
            <a:r>
              <a:rPr lang="en"/>
              <a:t>Chuyển đổi thành chữ thường </a:t>
            </a:r>
            <a:endParaRPr/>
          </a:p>
          <a:p>
            <a:pPr indent="-342900" lvl="0" marL="457200" rtl="0" algn="l">
              <a:spcBef>
                <a:spcPts val="0"/>
              </a:spcBef>
              <a:spcAft>
                <a:spcPts val="0"/>
              </a:spcAft>
              <a:buSzPts val="1800"/>
              <a:buAutoNum type="arabicPeriod"/>
            </a:pPr>
            <a:r>
              <a:rPr lang="en"/>
              <a:t>Loại bỏ ký tự không ASCII</a:t>
            </a:r>
            <a:endParaRPr/>
          </a:p>
          <a:p>
            <a:pPr indent="-342900" lvl="0" marL="457200" rtl="0" algn="l">
              <a:spcBef>
                <a:spcPts val="0"/>
              </a:spcBef>
              <a:spcAft>
                <a:spcPts val="0"/>
              </a:spcAft>
              <a:buSzPts val="1800"/>
              <a:buAutoNum type="arabicPeriod"/>
            </a:pPr>
            <a:r>
              <a:rPr lang="en"/>
              <a:t>Loại bỏ liên kết, từ số (</a:t>
            </a:r>
            <a:r>
              <a:rPr b="1" lang="en"/>
              <a:t>vd</a:t>
            </a:r>
            <a:r>
              <a:rPr lang="en"/>
              <a:t>: eleven), ký hiệu đề cập (</a:t>
            </a:r>
            <a:r>
              <a:rPr b="1" lang="en"/>
              <a:t>vd</a:t>
            </a:r>
            <a:r>
              <a:rPr lang="en"/>
              <a:t>: @max)</a:t>
            </a:r>
            <a:endParaRPr/>
          </a:p>
          <a:p>
            <a:pPr indent="-342900" lvl="0" marL="457200" rtl="0" algn="l">
              <a:spcBef>
                <a:spcPts val="0"/>
              </a:spcBef>
              <a:spcAft>
                <a:spcPts val="0"/>
              </a:spcAft>
              <a:buSzPts val="1800"/>
              <a:buAutoNum type="arabicPeriod"/>
            </a:pPr>
            <a:r>
              <a:rPr lang="en"/>
              <a:t>Loại bỏ stop-word (</a:t>
            </a:r>
            <a:r>
              <a:rPr b="1" lang="en"/>
              <a:t>vd</a:t>
            </a:r>
            <a:r>
              <a:rPr lang="en"/>
              <a:t>: the, is, at, on, which, in,...)</a:t>
            </a:r>
            <a:endParaRPr/>
          </a:p>
          <a:p>
            <a:pPr indent="-342900" lvl="0" marL="457200" rtl="0" algn="l">
              <a:spcBef>
                <a:spcPts val="0"/>
              </a:spcBef>
              <a:spcAft>
                <a:spcPts val="0"/>
              </a:spcAft>
              <a:buSzPts val="1800"/>
              <a:buAutoNum type="arabicPeriod"/>
            </a:pPr>
            <a:r>
              <a:rPr lang="en"/>
              <a:t>Lemmatization (</a:t>
            </a:r>
            <a:r>
              <a:rPr b="1" lang="en"/>
              <a:t>vd</a:t>
            </a:r>
            <a:r>
              <a:rPr lang="en"/>
              <a:t>: excited → excite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Logistic Regression </a:t>
            </a:r>
            <a:endParaRPr/>
          </a:p>
        </p:txBody>
      </p:sp>
      <p:pic>
        <p:nvPicPr>
          <p:cNvPr id="128" name="Google Shape;128;p25"/>
          <p:cNvPicPr preferRelativeResize="0"/>
          <p:nvPr/>
        </p:nvPicPr>
        <p:blipFill>
          <a:blip r:embed="rId3">
            <a:alphaModFix/>
          </a:blip>
          <a:stretch>
            <a:fillRect/>
          </a:stretch>
        </p:blipFill>
        <p:spPr>
          <a:xfrm>
            <a:off x="3992375" y="445025"/>
            <a:ext cx="5269075" cy="3820976"/>
          </a:xfrm>
          <a:prstGeom prst="rect">
            <a:avLst/>
          </a:prstGeom>
          <a:noFill/>
          <a:ln>
            <a:noFill/>
          </a:ln>
        </p:spPr>
      </p:pic>
      <p:sp>
        <p:nvSpPr>
          <p:cNvPr id="129" name="Google Shape;129;p25"/>
          <p:cNvSpPr txBox="1"/>
          <p:nvPr>
            <p:ph idx="1" type="body"/>
          </p:nvPr>
        </p:nvSpPr>
        <p:spPr>
          <a:xfrm>
            <a:off x="311700" y="1116650"/>
            <a:ext cx="3172200" cy="33348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AutoNum type="arabicPeriod"/>
            </a:pPr>
            <a:r>
              <a:rPr lang="en"/>
              <a:t>Sử dụng kỹ thuật pipeline </a:t>
            </a:r>
            <a:endParaRPr/>
          </a:p>
          <a:p>
            <a:pPr indent="-342900" lvl="0" marL="457200" rtl="0" algn="l">
              <a:spcBef>
                <a:spcPts val="0"/>
              </a:spcBef>
              <a:spcAft>
                <a:spcPts val="0"/>
              </a:spcAft>
              <a:buSzPts val="1800"/>
              <a:buAutoNum type="arabicPeriod"/>
            </a:pPr>
            <a:r>
              <a:rPr lang="en"/>
              <a:t>Các giai đoạn trong pipeline đã sử dụng:</a:t>
            </a:r>
            <a:endParaRPr/>
          </a:p>
          <a:p>
            <a:pPr indent="0" lvl="0" marL="457200" rtl="0" algn="l">
              <a:spcBef>
                <a:spcPts val="1200"/>
              </a:spcBef>
              <a:spcAft>
                <a:spcPts val="0"/>
              </a:spcAft>
              <a:buNone/>
            </a:pPr>
            <a:r>
              <a:rPr lang="en"/>
              <a:t>- Tokenizer Stage</a:t>
            </a:r>
            <a:endParaRPr/>
          </a:p>
          <a:p>
            <a:pPr indent="0" lvl="0" marL="457200" rtl="0" algn="l">
              <a:spcBef>
                <a:spcPts val="1200"/>
              </a:spcBef>
              <a:spcAft>
                <a:spcPts val="0"/>
              </a:spcAft>
              <a:buNone/>
            </a:pPr>
            <a:r>
              <a:rPr lang="en"/>
              <a:t>- HashingTF Stage</a:t>
            </a:r>
            <a:endParaRPr/>
          </a:p>
          <a:p>
            <a:pPr indent="0" lvl="0" marL="457200" rtl="0" algn="l">
              <a:spcBef>
                <a:spcPts val="1200"/>
              </a:spcBef>
              <a:spcAft>
                <a:spcPts val="0"/>
              </a:spcAft>
              <a:buNone/>
            </a:pPr>
            <a:r>
              <a:rPr lang="en"/>
              <a:t>- IDF Stage</a:t>
            </a:r>
            <a:endParaRPr/>
          </a:p>
          <a:p>
            <a:pPr indent="0" lvl="0" marL="457200" rtl="0" algn="l">
              <a:spcBef>
                <a:spcPts val="1200"/>
              </a:spcBef>
              <a:spcAft>
                <a:spcPts val="1200"/>
              </a:spcAft>
              <a:buNone/>
            </a:pPr>
            <a:r>
              <a:rPr lang="en"/>
              <a:t>- Logistic Regression hoặc Naive Bayes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Demo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7" title="Demo bigdata.mp4">
            <a:hlinkClick r:id="rId3"/>
          </p:cNvPr>
          <p:cNvPicPr preferRelativeResize="0"/>
          <p:nvPr/>
        </p:nvPicPr>
        <p:blipFill>
          <a:blip r:embed="rId4">
            <a:alphaModFix/>
          </a:blip>
          <a:stretch>
            <a:fillRect/>
          </a:stretch>
        </p:blipFill>
        <p:spPr>
          <a:xfrm>
            <a:off x="7620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000"/>
                                        <p:tgtEl>
                                          <p:spTgt spid="1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type="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1AFD1"/>
      </a:accent4>
      <a:accent5>
        <a:srgbClr val="0F9D58"/>
      </a:accent5>
      <a:accent6>
        <a:srgbClr val="9C27B0"/>
      </a:accent6>
      <a:hlink>
        <a:srgbClr val="0F9D58"/>
      </a:hlink>
      <a:folHlink>
        <a:srgbClr val="0F9D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